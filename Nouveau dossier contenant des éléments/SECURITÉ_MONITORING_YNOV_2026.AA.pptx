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78" r:id="rId10"/>
    <p:sldId id="277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690"/>
    <p:restoredTop sz="94126"/>
  </p:normalViewPr>
  <p:slideViewPr>
    <p:cSldViewPr snapToGrid="0" snapToObjects="1">
      <p:cViewPr>
        <p:scale>
          <a:sx n="101" d="100"/>
          <a:sy n="101" d="100"/>
        </p:scale>
        <p:origin x="-240" y="5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6E338-AD6F-A44C-99C2-81D4D4211ED3}" type="datetimeFigureOut">
              <a:rPr lang="fr-FR" smtClean="0"/>
              <a:t>22/04/2026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8B5A1-A255-954F-9806-6EBC2705A3F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73373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A8B5A1-A255-954F-9806-6EBC2705A3F5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4102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976D2"/>
                </a:solidFill>
                <a:latin typeface="Calibri"/>
              </a:rPr>
              <a:t>PFE CYBERSÉCURITÉ / CYBERDÉFENSE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SÉCURITÉ &amp;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CAF9"/>
                </a:solidFill>
                <a:latin typeface="Calibri"/>
              </a:rPr>
              <a:t>Application Web — Gestion Scolaire YNOV Campus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976D2"/>
                </a:solidFill>
                <a:latin typeface="Calibri"/>
              </a:rPr>
              <a:t>Phase 3 — Post-Production · WAF · SIEM · DAST · Wazuh 4.7.4 · CDC §3.3 à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788920"/>
            <a:ext cx="2194560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OWASP Top 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2788920"/>
            <a:ext cx="2194560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RGPD UE 2016/679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2788920"/>
            <a:ext cx="2194560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52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CDC §3.3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88920"/>
            <a:ext cx="2194560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38160" y="2816352"/>
            <a:ext cx="2194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Wazuh 4.7.4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337560"/>
            <a:ext cx="1755648" cy="7498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Catégories OWASP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3337560"/>
            <a:ext cx="1755648" cy="7498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4231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Articles RGPD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3337560"/>
            <a:ext cx="1755648" cy="74980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Tests DAST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3337560"/>
            <a:ext cx="1755648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2 500+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FIM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3337560"/>
            <a:ext cx="1755648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95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CVE Détectées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38360" y="3337560"/>
            <a:ext cx="1755648" cy="7498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738360" y="3364992"/>
            <a:ext cx="175564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1 600+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8360" y="3749039"/>
            <a:ext cx="17556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MITRE ATT&amp;CK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976D2"/>
                </a:solidFill>
                <a:latin typeface="Calibri"/>
              </a:rPr>
              <a:t>Amine BAHOU / Anass Akker  —  YNOV Campus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AUDIT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Audit OWASP Top 10 (2021) — 10 Catégories Vérifiées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97280"/>
            <a:ext cx="3163824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472" y="1170432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CATÉGORIE OWASP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1097280"/>
            <a:ext cx="4992624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47872" y="1170432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IMPLÉMENTATION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097280"/>
            <a:ext cx="1335024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77072" y="1170432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STATUT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46304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" y="151790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A01 — Broken Access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146304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47872" y="151790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RBAC · checkRole() · Firestore Rules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146304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577072" y="151790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82880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188366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A02 — Cryptographic Failures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0" y="182880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47872" y="188366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AES-256-CBC · HTTPS · bcrypt 12 rounds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182880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77072" y="188366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19456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224942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A03 — Injection SQLi·XSS·Cmd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219456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47872" y="224942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WAF waf.js → HTTP 403 + WAF_BLOCK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219456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77072" y="224942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56032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7472" y="261518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A04 — Insecure Design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0" y="256032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47872" y="261518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Architecture JWT + RBAC dès la conception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56032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577072" y="261518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2608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7472" y="298094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A05 — Security Misconfiguration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0" y="292608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547872" y="298094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Helmet · CORS strict · Headers HTTP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03920" y="292608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577072" y="298094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29184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47472" y="334670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A06 — Vulnerable Components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0" y="329184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47872" y="334670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Wazuh Vulnerability Detection — 17 CVE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329184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577072" y="334670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SURVEILLÉ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5760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47472" y="371246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A07 — Auth &amp; Session Failures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74720" y="365760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3547872" y="371246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Rate limiting · lockout 5 échecs · JWT 24h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503920" y="365760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577072" y="371246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2336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47472" y="407822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A08 — Data Integrity Failures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0" y="402336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47872" y="407822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auditLogs immuables · JWT signé HS256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503920" y="402336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8577072" y="407822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38912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347472" y="444398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A09 — Security Logging Failures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0" y="438912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3547872" y="444398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9 types audit logs Firestore · SIEM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03920" y="438912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577072" y="444398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CORRIGÉ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754880"/>
            <a:ext cx="31638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347472" y="4809744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A10 — SSRF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474720" y="4754880"/>
            <a:ext cx="49926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3547872" y="4809744"/>
            <a:ext cx="48920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Non applicable — pas d'appels serveur↔serveur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503920" y="4754880"/>
            <a:ext cx="1335024" cy="33832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8577072" y="4809744"/>
            <a:ext cx="12344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N/A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8 CORRIGÉES · 1 SURVEILLÉE par Wazuh · 1 N/A — Toutes failles critiques couvertes.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SÉCURITÉ APPLICATIVE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WAF waf.js — 5 Vecteurs OWASP Bloqués · Première Ligne de Défense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52374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7472" y="1261872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Injection SQL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88720"/>
            <a:ext cx="106070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07792" y="1261872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CRITIQUE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88720"/>
            <a:ext cx="682142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05072" y="1261872"/>
            <a:ext cx="6720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SELECT/UNION/DROP/OR 1=1 → HTTP 403 + WAF_BLOCK loggué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664208"/>
            <a:ext cx="252374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" y="1737360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XSS Cross-Site Scripting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1664208"/>
            <a:ext cx="106070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907792" y="1737360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HAUTE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664208"/>
            <a:ext cx="682142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05072" y="1737360"/>
            <a:ext cx="6720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&lt;script&gt; · eval() · onerror= → HTTP 403 · CSP default-src 'self'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139696"/>
            <a:ext cx="252374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7472" y="2212848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Path Traversal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2139696"/>
            <a:ext cx="106070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907792" y="2212848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HAUTE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2139696"/>
            <a:ext cx="682142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05072" y="2212848"/>
            <a:ext cx="6720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../../ · %2e%2e · /etc/passwd → HTTP 403 + WAF_BLOCK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615184"/>
            <a:ext cx="252374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" y="2688336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Command Injection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615184"/>
            <a:ext cx="106070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07792" y="2688336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HAUTE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615184"/>
            <a:ext cx="682142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05072" y="2688336"/>
            <a:ext cx="6720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; &amp;&amp; | $() → HTTP 403 + WAF_BLOCK loggué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90672"/>
            <a:ext cx="252374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7472" y="3163824"/>
            <a:ext cx="24231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Scanners suspects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090672"/>
            <a:ext cx="106070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907792" y="3163824"/>
            <a:ext cx="960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HAUTE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3090672"/>
            <a:ext cx="6821424" cy="43891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05072" y="3163824"/>
            <a:ext cx="67208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sqlmap/nikto/nmap User-Agent → HTTP 403 bloqué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57600"/>
            <a:ext cx="1161288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7200" y="3703320"/>
            <a:ext cx="11247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chemeClr val="bg1"/>
                </a:solidFill>
                <a:latin typeface="Courier New"/>
              </a:rPr>
              <a:t># SQLi </a:t>
            </a:r>
            <a:r>
              <a:rPr sz="900" b="0" i="0" dirty="0" err="1">
                <a:solidFill>
                  <a:schemeClr val="bg1"/>
                </a:solidFill>
                <a:latin typeface="Courier New"/>
              </a:rPr>
              <a:t>bloqué</a:t>
            </a:r>
            <a:r>
              <a:rPr sz="900" b="0" i="0" dirty="0">
                <a:solidFill>
                  <a:schemeClr val="bg1"/>
                </a:solidFill>
                <a:latin typeface="Courier New"/>
              </a:rPr>
              <a:t> → curl '...?id=1 OR 1=1'  →  HTTP 403  |  XSS → curl '...?nom=&lt;script&gt;alert(1)&lt;/script&gt;'  →  HTTP 403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251960"/>
            <a:ext cx="11612880" cy="8229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11480" y="4279392"/>
            <a:ext cx="3657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BRUTE FORCE PROTECTION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526280"/>
            <a:ext cx="111556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Rate limit 10 req/15min · 5 échecs → AUTH_LOCKOUT Firestore → HTTP 429 · Payload max 10 KB → HTTP 413 · Timeout 28s → HTTP 503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WAF appliqué avant même l'authentification — première ligne de défense. Toutes vulnérabilités CRITIQUES et HAUTES corrigées.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CDC §3.3 — RBAC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RBAC — Gestion des Accès par Rôle — Moindre Privilège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265176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21615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  <a:latin typeface="Calibri"/>
              </a:rPr>
              <a:t>admin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2651760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chemeClr val="bg1"/>
                </a:solidFill>
                <a:latin typeface="Calibri"/>
              </a:rPr>
              <a:t>Accès complet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56231"/>
            <a:ext cx="2651760" cy="1737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monitoring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221991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users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569463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toutes données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16935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configuration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64407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exports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1188720"/>
            <a:ext cx="26517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200400" y="121615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  <a:latin typeface="Calibri"/>
              </a:rPr>
              <a:t>sous-admin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1600200"/>
            <a:ext cx="2651760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2004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chemeClr val="bg1"/>
                </a:solidFill>
                <a:latin typeface="Calibri"/>
              </a:rPr>
              <a:t>Gestion opérationnelle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856231"/>
            <a:ext cx="2651760" cy="173736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1874519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étudiants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2221991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classes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569463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paiements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2916935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factures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91840" y="3264407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rapports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188720"/>
            <a:ext cx="2651760" cy="4114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43600" y="121615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  <a:latin typeface="Calibri"/>
              </a:rPr>
              <a:t>comptable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1600200"/>
            <a:ext cx="2651760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9436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chemeClr val="bg1"/>
                </a:solidFill>
                <a:latin typeface="Calibri"/>
              </a:rPr>
              <a:t>Finance uniquement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1856231"/>
            <a:ext cx="2651760" cy="10424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35040" y="1874519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lecture paiements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2221991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génération factures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35040" y="2569463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exports uniquement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86800" y="1188720"/>
            <a:ext cx="2651760" cy="41148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0" y="1216152"/>
            <a:ext cx="26517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chemeClr val="bg1"/>
                </a:solidFill>
                <a:latin typeface="Calibri"/>
              </a:rPr>
              <a:t>étudiant / parent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86800" y="1600200"/>
            <a:ext cx="2651760" cy="25603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686800" y="161848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chemeClr val="bg1"/>
                </a:solidFill>
                <a:latin typeface="Calibri"/>
              </a:rPr>
              <a:t>Portail personnel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1856231"/>
            <a:ext cx="2651760" cy="1042416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778240" y="1874519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propres données uniquement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221991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lecture seule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2569463"/>
            <a:ext cx="25146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▸ pas d'admin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5120640"/>
            <a:ext cx="11612880" cy="5029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57200" y="5148072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chemeClr val="bg1"/>
                </a:solidFill>
                <a:latin typeface="Calibri"/>
              </a:rPr>
              <a:t>Implémentation : checkRole(['admin','sous-admin']) sur chaque route · Re-lecture rôle Firestore à CHAQUE requête (jamais depuis JWT uniquement)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RBAC vérifie les rôles en temps réel. Si rôle révoqué → bloqué immédiatement à la prochaine requête.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CDC §3.3 — CONFORMITÉ RGPD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Conformité RGPD (UE 2016/679) — 6 Articles Implémentés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74320" y="123444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5760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15 — Droit d'accès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58191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Export données personnelles
DATA_EXPORT loggué · GET /users/:id/export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50208" y="123444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950208" y="123444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41648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16 — Rectification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158191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Modification données
CRUD loggué avec serverTimestamp()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26096" y="123444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626096" y="123444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17536" y="128016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17 — Droit à l'effacement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7536" y="158191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Anonymisation DATA_ANONYMIZE
champs remplacés · log conservé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74320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25 — Privacy by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309067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AES-256-CBC · HTTPS · RBAC
principe du moindre privilège dès conception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50208" y="274320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950208" y="274320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041648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32 — Sécurité du traitement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309067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WAF + JWT HS256 + bcrypt 12 rounds
rate limiting + HTTPS/HSTS max-age=31536000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26096" y="2743200"/>
            <a:ext cx="3566160" cy="1417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626096" y="2743200"/>
            <a:ext cx="3566160" cy="29260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717536" y="2788920"/>
            <a:ext cx="34290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Art. 33 — Notification violation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17536" y="3090672"/>
            <a:ext cx="342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Alerte CRITIQUE auditLogs
Procédure 72h documentée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Privacy by Design (Art.25) dès la conception. Procédure 72h (Art.33) automatisée via le dashboard /monitoring.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CDC §3.3 — JOURNALISATION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9 Audit Logs Immuables + Security Headers JWT + bcrypt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243584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AUTH_SUCCESS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88720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97480" y="1243584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INFO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0" y="1188720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23360" y="1243584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IP + horodatage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545336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1600200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AUTH_FAILURE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97480" y="1545336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697480" y="1600200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WARNING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931920" y="1545336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023360" y="1600200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IP + tentative n°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1901952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1956816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AUTH_LOCKOUT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97480" y="1901952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697480" y="195681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CRITIQUE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31920" y="1901952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IP + durée blocage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258568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2313432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LOGOUT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2258568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697480" y="2313432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INFO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258568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023360" y="2313432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durée session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615184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5760" y="2670048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SESSION_EXPIRED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97480" y="2615184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97480" y="2670048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INFO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31920" y="2615184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023360" y="2670048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last_activity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971800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3026664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ACCESS_DENIED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97480" y="2971800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697480" y="3026664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WARNING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931920" y="2971800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23360" y="3026664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route + rôle tenté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328416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5760" y="3383280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DATA_EXPORT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97480" y="3328416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2697480" y="3383280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INFO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3328416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023360" y="3383280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données exportées — Art.15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685032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5760" y="3739896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DATA_ANONYMIZE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97480" y="3685032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697480" y="3739896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WARNING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31920" y="3685032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23360" y="3739896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userId + champs anonymisés — Art.17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74320" y="4041648"/>
            <a:ext cx="237744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65760" y="4096512"/>
            <a:ext cx="22860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ourier New"/>
              </a:rPr>
              <a:t>WAF_BLOCK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97480" y="4041648"/>
            <a:ext cx="118872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2697480" y="4096512"/>
            <a:ext cx="11887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chemeClr val="bg1"/>
                </a:solidFill>
                <a:latin typeface="Calibri"/>
              </a:rPr>
              <a:t>CRITIQUE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041648"/>
            <a:ext cx="7772400" cy="32918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023360" y="4096512"/>
            <a:ext cx="7680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IP + type attaque + payload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4526280"/>
            <a:ext cx="11612880" cy="38404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7200" y="4553712"/>
            <a:ext cx="112471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Firestore Rules : allow update: if false · allow delete: if false  →  LOGS IMMUABLES · serverTimestamp() non manipulable côté client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" y="5029200"/>
            <a:ext cx="5029200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11480" y="5056632"/>
            <a:ext cx="47548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Security Headers (Helmet.js) · JWT HS256 · bcrypt 12r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11480" y="5321808"/>
            <a:ext cx="47548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HSTS max-age=31536000 · X-Frame DENY · CSP default-src 'self' · JWT exp:24h · bcrypt 12 rounds · AES-256-CBC données sensibles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40680" y="5029200"/>
            <a:ext cx="6446520" cy="10058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577840" y="5056632"/>
            <a:ext cx="6217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Scanner DAST — 12 Tests OWASP — Score 92/100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577840" y="5321808"/>
            <a:ext cx="621792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node scripts/security_scan.js → 11/12 PASS (SQLi 403 ✓ · XSS 403 ✓ · Path 403 ✓ · Rate 429 ✓ · RBAC ✓ · /monitoring admin ✓) · 1 warning CORS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Logs infalsifiables — serverTimestamp() côté serveur. DAST automatisé intégrable CI/CD. Score 92/100.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ARCHITECTURE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07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Pipeline de Sécurité — 8 Couches — De la Requête à l'Alerte SIEM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4663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WAF (waf.js)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63240" y="118872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54680" y="128016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SQLi · XSS · PathTraversal · CmdInj · Agents suspects → HTTP 403 + WAF_BLOCK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58191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91640"/>
            <a:ext cx="2743200" cy="4663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178308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Rate Limiter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63240" y="169164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54680" y="178308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100 req/15min global · 5 échecs → AUTH_LOCKOUT → HTTP 429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08483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94560"/>
            <a:ext cx="2743200" cy="46634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228600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verifyJWT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063240" y="219456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54680" y="228600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JWT HS256 · expiration 24h · signature → HTTP 401 si invalide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258775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697480"/>
            <a:ext cx="2743200" cy="4663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278892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checkRole() Firestore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269748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54680" y="278892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Re-lecture rôle BDD à chaque requête → HTTP 403 + ACCESS_DENIED si insuffisant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309067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200400"/>
            <a:ext cx="2743200" cy="46634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329184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Route Handler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63240" y="320040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154680" y="329184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Traitement métier sécurisé → Réponse applicative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359359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703320"/>
            <a:ext cx="2743200" cy="4663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379476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auditLogger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63240" y="370332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154680" y="379476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9 types events · Firestore immuable · serverTimestamp()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09651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4206240"/>
            <a:ext cx="2743200" cy="466344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5760" y="429768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Dashboard /monitoring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63240" y="420624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54680" y="429768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Score /100 · WAF stats · SIEM logs · 4 alertes auto · 60s refresh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25880" y="459943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709160"/>
            <a:ext cx="2743200" cy="46634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5760" y="4800600"/>
            <a:ext cx="260604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Wazuh SIEM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063240" y="4709160"/>
            <a:ext cx="8823960" cy="46634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154680" y="4800600"/>
            <a:ext cx="868680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CIS Benchmark · MITRE ATT&amp;CK · FIM · CVE · GDPR · Agent actif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5102352"/>
            <a:ext cx="100584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Chaque requête filtrée par 4 couches avant d'accéder aux données. Toutes les actions loggées et analysées via Wazuh.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04EC00-00C8-8BE6-304E-95D73E835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0" y="1410608"/>
            <a:ext cx="6858000" cy="4036784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1" y="1420745"/>
            <a:ext cx="6857999" cy="4036787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397" y="3588611"/>
            <a:ext cx="2501979" cy="403678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606" y="969718"/>
            <a:ext cx="3899340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619" y="1400469"/>
            <a:ext cx="6858003" cy="403678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1CFE05-1E42-0CB8-C396-63BAF2FD0594}"/>
              </a:ext>
            </a:extLst>
          </p:cNvPr>
          <p:cNvSpPr txBox="1"/>
          <p:nvPr/>
        </p:nvSpPr>
        <p:spPr>
          <a:xfrm>
            <a:off x="466600" y="586855"/>
            <a:ext cx="3200532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Dashboard Sécurité — Score 40/100 · 3 </a:t>
            </a:r>
            <a:r>
              <a:rPr lang="en-US" sz="3400" b="1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Alertes</a:t>
            </a:r>
            <a:r>
              <a:rPr lang="en-US" sz="34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Actives · Auth · RGPD · RBAC · Audit</a:t>
            </a:r>
            <a:endParaRPr lang="en-US" sz="34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0EDAD8-5897-C455-8A3B-DA674F042A04}"/>
              </a:ext>
            </a:extLst>
          </p:cNvPr>
          <p:cNvSpPr txBox="1"/>
          <p:nvPr/>
        </p:nvSpPr>
        <p:spPr>
          <a:xfrm>
            <a:off x="4534967" y="1257300"/>
            <a:ext cx="3024516" cy="2594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r>
              <a:rPr lang="fr-MA" dirty="0"/>
              <a:t>Le tableau de bord affiche un score de 30/100 en mode attaque active, avec 4 alertes déclenchées automatiquement. Il centralise en temps réel : 30 échecs de connexion bloqués, 32 accès refusés par le RBAC, 25 opérations RGPD tracées, et 178 événements immuables enregistrés dans </a:t>
            </a:r>
            <a:r>
              <a:rPr lang="fr-MA" dirty="0" err="1"/>
              <a:t>Firestore</a:t>
            </a:r>
            <a:r>
              <a:rPr lang="fr-MA" dirty="0"/>
              <a:t>.</a:t>
            </a:r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6D7F8FB8-A0F1-C2D7-29A9-EF72A0A7D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0138"/>
            <a:ext cx="4340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05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09AC1-D694-8C86-51B6-FFED029CC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80A721-D7DF-0B7D-C220-6AC3C93A435E}"/>
              </a:ext>
            </a:extLst>
          </p:cNvPr>
          <p:cNvSpPr txBox="1"/>
          <p:nvPr/>
        </p:nvSpPr>
        <p:spPr>
          <a:xfrm>
            <a:off x="7143793" y="1506070"/>
            <a:ext cx="4645085" cy="57319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MA" b="1" dirty="0"/>
              <a:t>Monitoring de Sécurité — WAF : 44 Attaques Bloquées &amp; Score 50/100</a:t>
            </a:r>
            <a:endParaRPr lang="fr-M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4DBC3-7277-21A7-6512-25209FB7536A}"/>
              </a:ext>
            </a:extLst>
          </p:cNvPr>
          <p:cNvSpPr txBox="1"/>
          <p:nvPr/>
        </p:nvSpPr>
        <p:spPr>
          <a:xfrm>
            <a:off x="7143792" y="2197311"/>
            <a:ext cx="4645085" cy="12316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fr-MA" dirty="0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39DFC30-7144-ECCF-3AF1-B3CD3CCCB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48300" cy="6858000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E10AE4B3-855D-D53A-FB16-77F3B79BE430}"/>
              </a:ext>
            </a:extLst>
          </p:cNvPr>
          <p:cNvSpPr txBox="1"/>
          <p:nvPr/>
        </p:nvSpPr>
        <p:spPr>
          <a:xfrm>
            <a:off x="7143792" y="2168372"/>
            <a:ext cx="436240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"Ici l'onglet WAF — notre pare-feu applicatif. Il a bloqué toutes les attaques avant qu'elles atteignent la base de données. On voit la répartition par type : injections SQL, XSS, Path </a:t>
            </a:r>
            <a:r>
              <a:rPr lang="fr-MA" dirty="0" err="1"/>
              <a:t>Traversal</a:t>
            </a:r>
            <a:r>
              <a:rPr lang="fr-MA" dirty="0"/>
              <a:t>, scanners automatiques, injections de commandes. Dans le tableau en bas, chaque attaque est détaillée : quelle requête, depuis quelle IP, à quelle heure. Toutes ont reçu un HTTP 403."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28861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8065" y="1418064"/>
            <a:ext cx="6875818" cy="403969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021" y="2660999"/>
            <a:ext cx="4355594" cy="4037551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1467" y="1638551"/>
            <a:ext cx="6857572" cy="3580468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786" y="1201844"/>
            <a:ext cx="4808302" cy="4087601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719647" y="1123543"/>
            <a:ext cx="2880077" cy="385426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MA" sz="3600" b="1" dirty="0">
                <a:solidFill>
                  <a:schemeClr val="bg1"/>
                </a:solidFill>
              </a:rPr>
              <a:t>SIEM — 29 Auth · 16 RBAC · 20 RGPD · 60 Blocages WAF — 20 Derniers Événements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DE5426D-71EA-29E5-E1CF-065A062A98FF}"/>
              </a:ext>
            </a:extLst>
          </p:cNvPr>
          <p:cNvSpPr txBox="1"/>
          <p:nvPr/>
        </p:nvSpPr>
        <p:spPr>
          <a:xfrm>
            <a:off x="8132781" y="2237591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5E8A101-F6FE-C8FB-28F0-ECC40226E835}"/>
              </a:ext>
            </a:extLst>
          </p:cNvPr>
          <p:cNvSpPr txBox="1"/>
          <p:nvPr/>
        </p:nvSpPr>
        <p:spPr>
          <a:xfrm>
            <a:off x="4405450" y="1326931"/>
            <a:ext cx="32912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dirty="0"/>
              <a:t>"L'onglet SIEM Logs montre le journal centralisé en temps réel. On voit tous les types d'événements mélangés : attaques WAF bloquées, échecs de connexion, accès refusés RBAC, et exports RGPD — avec l'email, le chemin et l'heure pour chaque action.</a:t>
            </a:r>
          </a:p>
          <a:p>
            <a:r>
              <a:rPr lang="fr-MA" dirty="0"/>
              <a:t>Ces logs sont infalsifiables : personne ne peut les modifier ni les supprimer, même un administrateur."</a:t>
            </a:r>
          </a:p>
        </p:txBody>
      </p:sp>
      <p:pic>
        <p:nvPicPr>
          <p:cNvPr id="29" name="Image 28">
            <a:extLst>
              <a:ext uri="{FF2B5EF4-FFF2-40B4-BE49-F238E27FC236}">
                <a16:creationId xmlns:a16="http://schemas.microsoft.com/office/drawing/2014/main" id="{35E4DEF6-3D91-4184-DDC4-FD949651E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098" y="-17819"/>
            <a:ext cx="4514439" cy="6893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PARTIE 3 — WAZUH SIEM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11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Architecture Wazuh 4.7.4 — Docker — 4 Commandes · 2 Agents · Coverage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298448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Application Web (React)</a:t>
            </a:r>
          </a:p>
        </p:txBody>
      </p:sp>
      <p:sp>
        <p:nvSpPr>
          <p:cNvPr id="9" name="Rectangle 8"/>
          <p:cNvSpPr/>
          <p:nvPr/>
        </p:nvSpPr>
        <p:spPr>
          <a:xfrm>
            <a:off x="3520440" y="1234440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1880" y="1298448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Frontend · auditLogs Firestore · dashboard /monitoring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618488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55064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5760" y="1719072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API Backend (Node.js)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0440" y="1655064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611880" y="1719072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WAF · JWT · RBAC · Handler · auditLogger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039112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075688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2139696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Wazuh Agent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2075688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11880" y="2139696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OSSEC · Port 1514 · Chiffrement AES · Push events →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459736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496312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65760" y="2560320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Wazuh Manager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0440" y="2496312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11880" y="2560320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chemeClr val="bg1"/>
                </a:solidFill>
                <a:latin typeface="Calibri"/>
              </a:rPr>
              <a:t>Collecte</a:t>
            </a:r>
            <a:r>
              <a:rPr sz="900" b="0" i="0" dirty="0">
                <a:solidFill>
                  <a:schemeClr val="bg1"/>
                </a:solidFill>
                <a:latin typeface="Calibri"/>
              </a:rPr>
              <a:t> · </a:t>
            </a:r>
            <a:r>
              <a:rPr sz="900" b="0" i="0" dirty="0" err="1">
                <a:solidFill>
                  <a:schemeClr val="bg1"/>
                </a:solidFill>
                <a:latin typeface="Calibri"/>
              </a:rPr>
              <a:t>corrélation</a:t>
            </a:r>
            <a:r>
              <a:rPr sz="900" b="0" i="0" dirty="0">
                <a:solidFill>
                  <a:schemeClr val="bg1"/>
                </a:solidFill>
                <a:latin typeface="Calibri"/>
              </a:rPr>
              <a:t> · </a:t>
            </a:r>
            <a:r>
              <a:rPr sz="900" b="0" i="0" dirty="0" err="1">
                <a:solidFill>
                  <a:schemeClr val="bg1"/>
                </a:solidFill>
                <a:latin typeface="Calibri"/>
              </a:rPr>
              <a:t>moteur</a:t>
            </a:r>
            <a:r>
              <a:rPr sz="900" b="0" i="0" dirty="0">
                <a:solidFill>
                  <a:schemeClr val="bg1"/>
                </a:solidFill>
                <a:latin typeface="Calibri"/>
              </a:rPr>
              <a:t> </a:t>
            </a:r>
            <a:r>
              <a:rPr sz="900" b="0" i="0" dirty="0" err="1">
                <a:solidFill>
                  <a:schemeClr val="bg1"/>
                </a:solidFill>
                <a:latin typeface="Calibri"/>
              </a:rPr>
              <a:t>règles</a:t>
            </a:r>
            <a:r>
              <a:rPr sz="900" b="0" i="0" dirty="0">
                <a:solidFill>
                  <a:schemeClr val="bg1"/>
                </a:solidFill>
                <a:latin typeface="Calibri"/>
              </a:rPr>
              <a:t> · Port 1514/55000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2880360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916936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65760" y="2980944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Wazuh Indexer (OpenSearch)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20440" y="2916936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611880" y="2980944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Stockage alertes · Port 9200 · Full-text search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300984"/>
            <a:ext cx="457200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chemeClr val="bg1"/>
                </a:solidFill>
                <a:latin typeface="Calibri"/>
              </a:rPr>
              <a:t>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3337560"/>
            <a:ext cx="3200400" cy="39319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65760" y="3401568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Wazuh 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20440" y="3337560"/>
            <a:ext cx="5212080" cy="39319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11880" y="3401568"/>
            <a:ext cx="50749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Interface Kibana fork · Port 443 HTTPS TLS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869680" y="1234440"/>
            <a:ext cx="3291840" cy="2560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006840" y="1261872"/>
            <a:ext cx="30632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chemeClr val="bg1"/>
                </a:solidFill>
                <a:latin typeface="Calibri"/>
              </a:rPr>
              <a:t>Installation — 4 Commandes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1572768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chemeClr val="bg1"/>
                </a:solidFill>
                <a:latin typeface="Courier New"/>
              </a:rPr>
              <a:t>git clone -b v4.7.4 github.com/wazuh/wazuh-docker.git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1911096"/>
            <a:ext cx="30632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chemeClr val="bg1"/>
                </a:solidFill>
                <a:latin typeface="Courier New"/>
              </a:rPr>
              <a:t>cd wazuh-docker/single-node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2249424"/>
            <a:ext cx="30632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chemeClr val="bg1"/>
                </a:solidFill>
                <a:latin typeface="Courier New"/>
              </a:rPr>
              <a:t>docker compose -f generate-indexer-certs.yml run --rm generator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2587752"/>
            <a:ext cx="30632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chemeClr val="bg1"/>
                </a:solidFill>
                <a:latin typeface="Courier New"/>
              </a:rPr>
              <a:t>docker compose up -d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2926080"/>
            <a:ext cx="30632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chemeClr val="bg1"/>
                </a:solidFill>
                <a:latin typeface="Courier New"/>
              </a:rPr>
              <a:t>→ https://localhost : admin / SecretPassword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0" y="3840480"/>
            <a:ext cx="3291840" cy="9144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06840" y="3886200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Agent 001 : frais-gestion-scolaire · Debian 12 · Active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4160520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chemeClr val="bg1"/>
                </a:solidFill>
                <a:latin typeface="Calibri"/>
              </a:rPr>
              <a:t>Agent 002 : main-machine · macOS 15.7.4 · Active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434840"/>
            <a:ext cx="3063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Coverage : 100% — 2 actifs · 0 déconnecté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Wazuh s'installe en 4 commandes Docker. Agent macOS envoie les événements en temps réel. Coverage 100%.</a:t>
            </a:r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2B6A7B04-6C85-94F1-2A92-51ADD64C3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886200"/>
            <a:ext cx="8366760" cy="22150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WAZUH SIEM — SECURITY EVENTS · FIM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12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436 420 Events · Rule 550 Level 7 · FIM SHA-256 · root 89.44%</a:t>
            </a:r>
          </a:p>
        </p:txBody>
      </p:sp>
      <p:pic>
        <p:nvPicPr>
          <p:cNvPr id="7" name="Picture 6" descr="SECURITE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34440"/>
            <a:ext cx="5669280" cy="237744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0" y="1234440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2200" y="126187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Total Events : 436 420 — journalisation complète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36776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2200" y="166420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Top Rule : Rule 550 Level 7 — Integrity checksum changed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39112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2066544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MITRE : T1565.001 Stored Data Manipulation (~95%)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41448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2468880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Agent : main-machine · macOS 15.7.4 · Active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749039"/>
            <a:ext cx="5669280" cy="2743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3767328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chemeClr val="bg1"/>
                </a:solidFill>
                <a:latin typeface="Calibri"/>
              </a:rPr>
              <a:t>FIM — File Integrity Monitoring</a:t>
            </a:r>
          </a:p>
        </p:txBody>
      </p:sp>
      <p:pic>
        <p:nvPicPr>
          <p:cNvPr id="18" name="Picture 17" descr="wazuh_03_f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69080"/>
            <a:ext cx="5669280" cy="192024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035040" y="3749039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72200" y="377647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Règle : Rule 550 Niveau 7 — Integrity checksum changed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151375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172200" y="417880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root 89.44% : Modifications binaires système macOS — /var/bin/*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4553711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72200" y="4581144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Fichiers : /var/bin/afsa · /var/bin/apfs · /private/var/db/locationd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956047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72200" y="4983480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Risque : Rootkit/backdoor si modifications non légitimes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35040" y="5358383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72200" y="5385816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Hash SHA-256 en temps réel — équivalent IDS filesystem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FIM détecterait tout rootkit ou backdoor en temps réel. 436 420 events — journalisation complète depuis l'installation.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WAZUH — VULNERABILITY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976D2"/>
                </a:solidFill>
                <a:latin typeface="Calibri"/>
              </a:rPr>
              <a:t>13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CVE — 17 Vulnérabilités Identifiées — 8 High + 9 Medium — Docker P1</a:t>
            </a:r>
          </a:p>
        </p:txBody>
      </p:sp>
      <p:pic>
        <p:nvPicPr>
          <p:cNvPr id="7" name="Picture 6" descr="wazuh_04_c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5943600" cy="32004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00800" y="1207008"/>
            <a:ext cx="1078992" cy="2651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0" y="1207008"/>
            <a:ext cx="1078992" cy="2651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54380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Package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5360" y="1207008"/>
            <a:ext cx="1078992" cy="2651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4108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Sév.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1207008"/>
            <a:ext cx="1078992" cy="2651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3836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CVSS3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0" y="1207008"/>
            <a:ext cx="1078992" cy="2651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835640" y="124358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47218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CVE-2019-5736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0" y="147218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Docker 4.43.2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95360" y="147218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4108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High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92640" y="147218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73836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8.6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789920" y="147218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835640" y="149961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Container escape → root sur l'hôte via runc. PATCH P1 IMMÉDIAT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CVE-2019-13509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9808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4380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Docker 4.43.2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4108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9264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73836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7.5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789920" y="1737360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835640" y="1764792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Information disclosure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2002536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CVE-2019-16884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98080" y="2002536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54380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Docker 4.43.2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95360" y="2002536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108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High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92640" y="2002536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73836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7.5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789920" y="2002536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835640" y="2029968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AppArmor bypass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CVE-2021-21284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9808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54380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Docker 4.43.2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59536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64108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Medium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9264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73836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6.8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89920" y="2267712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835640" y="2295144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Privilege escalation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00800" y="253288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CVE-2001-0718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498080" y="253288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54380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Excel 16.107.3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53288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64108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High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92640" y="253288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973836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7.5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789920" y="2532888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0835640" y="2560320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Input validation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0080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CVE-2014-4715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49808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54380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lz4 1.10.0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59536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64108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Medium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9264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73836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5.0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789920" y="2798064"/>
            <a:ext cx="1078992" cy="246888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835640" y="2825496"/>
            <a:ext cx="10058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Heap overflow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4572000"/>
            <a:ext cx="11612880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57200" y="4599432"/>
            <a:ext cx="11247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chemeClr val="bg1"/>
                </a:solidFill>
                <a:latin typeface="Calibri"/>
              </a:rPr>
              <a:t>ACTION PRIORITAIRE P1 : Mise à jour Docker Engine → docker pull </a:t>
            </a:r>
            <a:r>
              <a:rPr sz="1000" b="1" i="0" dirty="0" err="1">
                <a:solidFill>
                  <a:schemeClr val="bg1"/>
                </a:solidFill>
                <a:latin typeface="Calibri"/>
              </a:rPr>
              <a:t>docker:latest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chemeClr val="bg1"/>
                </a:solidFill>
                <a:latin typeface="Calibri"/>
              </a:rPr>
              <a:t>élimine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 8 CVE High </a:t>
            </a:r>
            <a:r>
              <a:rPr sz="1000" b="1" i="0" dirty="0" err="1">
                <a:solidFill>
                  <a:schemeClr val="bg1"/>
                </a:solidFill>
                <a:latin typeface="Calibri"/>
              </a:rPr>
              <a:t>dont</a:t>
            </a:r>
            <a:r>
              <a:rPr sz="1000" b="1" i="0" dirty="0">
                <a:solidFill>
                  <a:schemeClr val="bg1"/>
                </a:solidFill>
                <a:latin typeface="Calibri"/>
              </a:rPr>
              <a:t> CVE-2019-5736 (CVSS3=8.6 container escape)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5230368"/>
            <a:ext cx="16002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27432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7432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920240" y="5230368"/>
            <a:ext cx="16002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92024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92024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566160" y="5230368"/>
            <a:ext cx="16002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56616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56616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Medium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212080" y="5230368"/>
            <a:ext cx="1600200" cy="64008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5212080" y="5276088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12080" y="5614416"/>
            <a:ext cx="1600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  <a:latin typeface="Calibri"/>
              </a:rPr>
              <a:t>💬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Wazuh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Vulnerability Detector compare packages vs NVD NIST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automatiquement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. CVE-2019-5736 =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priorité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absolue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post-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soutenance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WAZUH — MITRE ATT&amp;CK · POLICY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14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MITRE ATT&amp;CK — T1565.001 dominant · Rootcheck — 4 Anomalies Détectées</a:t>
            </a:r>
          </a:p>
        </p:txBody>
      </p:sp>
      <p:pic>
        <p:nvPicPr>
          <p:cNvPr id="7" name="Picture 6" descr="wazuh_05_mit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07008"/>
            <a:ext cx="5669280" cy="31089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035040" y="1207008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T1565.001 : Stored Data Manipulation — tactic Impact (dominant ~95%)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609344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172200" y="1636776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T1562 : Disable or Modify Tools — tactic Defense Evasion (×6)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2011680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72200" y="203911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Tactics : Impact &gt; Defense Evasion · Classification SOC internationale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414016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244144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Corrélation : PCI DSS 11.5 · RGPD Art.25 · Privacy by Design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34840"/>
            <a:ext cx="5669280" cy="27432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4453128"/>
            <a:ext cx="54864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Rootcheck — Policy Monitoring — Host-based Anomaly Detection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4434840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2200" y="446227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Trojaned files : détection de binaires système compromis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4837176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172200" y="486460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Hidden processes : processus 26061 caché — tentative de dissimulation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5239512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72200" y="5266944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Promiscuity : Interface en3 en mode promiscuous — capture réseau détectée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5641848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72200" y="5669280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Module : Host-based Anomaly Detection · Rootcheck actif · temps réel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MITRE ATT&amp;CK = framework universel SOC. Rootcheck a détecté des anomalies réelles sur l'agent macOS — sniffing réseau possible.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WAZUH SIEM — 5 MODULES ACTIFS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15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Wazuh — 5 Modules de Sécurité Actifs — CDC §3.3 Couvert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21945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125272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chemeClr val="bg1"/>
                </a:solidFill>
                <a:latin typeface="Calibri"/>
              </a:rPr>
              <a:t>Security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581912"/>
            <a:ext cx="2194560" cy="228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74320" y="1600200"/>
            <a:ext cx="2194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chemeClr val="bg1"/>
                </a:solidFill>
                <a:latin typeface="Calibri"/>
              </a:rPr>
              <a:t>Journalisation temps réel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10512"/>
            <a:ext cx="2194560" cy="1463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47472" y="182880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Tableau central : événements classés niveau 3→15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19456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IP source · agent · règle · horodatage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56032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Base de toute la corrélation SIEM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92608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436 420 events journalisés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60320" y="1234440"/>
            <a:ext cx="21945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60320" y="125272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chemeClr val="bg1"/>
                </a:solidFill>
                <a:latin typeface="Calibri"/>
              </a:rPr>
              <a:t>MITRE ATT&amp;CK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1581912"/>
            <a:ext cx="2194560" cy="228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60320" y="1600200"/>
            <a:ext cx="2194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chemeClr val="bg1"/>
                </a:solidFill>
                <a:latin typeface="Calibri"/>
              </a:rPr>
              <a:t>Classification internationale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1810512"/>
            <a:ext cx="2194560" cy="1463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33472" y="182880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T1499 Impact ×1594 · T1562 Evasion ×6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33472" y="219456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Taxonomie universelle SOC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33472" y="256032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Corrélation automatique techniques attaque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33472" y="292608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PCI DSS 11.5 · RGPD Art.25 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1234440"/>
            <a:ext cx="219456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846320" y="125272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chemeClr val="bg1"/>
                </a:solidFill>
                <a:latin typeface="Calibri"/>
              </a:rPr>
              <a:t>GDPR Module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46320" y="1581912"/>
            <a:ext cx="2194560" cy="228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846320" y="1600200"/>
            <a:ext cx="2194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chemeClr val="bg1"/>
                </a:solidFill>
                <a:latin typeface="Calibri"/>
              </a:rPr>
              <a:t>Conformité Art. 15/17/33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1810512"/>
            <a:ext cx="21945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19472" y="182880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Art.15 accès · Art.17 effacement · Art.33 violation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19472" y="219456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Complète nos auditLogs applicatifs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256032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Surveillance conformité infrastructure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132320" y="1234440"/>
            <a:ext cx="21945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132320" y="125272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chemeClr val="bg1"/>
                </a:solidFill>
                <a:latin typeface="Calibri"/>
              </a:rPr>
              <a:t>Integrity Monitoring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0" y="1581912"/>
            <a:ext cx="2194560" cy="228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132320" y="1600200"/>
            <a:ext cx="2194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chemeClr val="bg1"/>
                </a:solidFill>
                <a:latin typeface="Calibri"/>
              </a:rPr>
              <a:t>FIM — Hash SHA-256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1810512"/>
            <a:ext cx="21945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5472" y="182880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2 500+ events · /bin/bash /bin/cp modifiés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05472" y="219456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Alerte si rootkit ou backdoor détecté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256032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Équivalent IDS filesystem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418320" y="1234440"/>
            <a:ext cx="2194560" cy="34747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418320" y="1252728"/>
            <a:ext cx="21945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chemeClr val="bg1"/>
                </a:solidFill>
                <a:latin typeface="Calibri"/>
              </a:rPr>
              <a:t>Vulnerabilities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1581912"/>
            <a:ext cx="2194560" cy="2286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418320" y="1600200"/>
            <a:ext cx="2194560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chemeClr val="bg1"/>
                </a:solidFill>
                <a:latin typeface="Calibri"/>
              </a:rPr>
              <a:t>CVE — CVSS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18320" y="1810512"/>
            <a:ext cx="219456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491472" y="182880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17 CVE · 8 High + 9 Medium · Docker dominant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2194560"/>
            <a:ext cx="2084832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CVE-2019-5736 CVSS3=8.6 → patch P1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91472" y="2560320"/>
            <a:ext cx="208483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chemeClr val="bg1"/>
                </a:solidFill>
                <a:latin typeface="Calibri"/>
              </a:rPr>
              <a:t>▸ Scan packages vs NVD NIST automatique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5 modules combinés : détection menaces + conformité RGPD + CVE + FIM + journalisation. Coverage CDC §3.3 complète.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DÉFENSE EN PROFONDEUR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16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Monitoring à 2 Niveaux — Defense in Depth — CDC §3.3 à 100%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303520" cy="34747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12064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COUCHE 1 — APPLICATIVE — auditLogs Firestore + /monitoring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27632"/>
            <a:ext cx="530352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655064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WAF — SQLi · XSS · PathTraversal · CmdInj · Agents suspects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29968"/>
            <a:ext cx="530352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057400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9 types audit logs immuables Firestore 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32304"/>
            <a:ext cx="530352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2459736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Score /100 temps réel + 4 alertes automatiques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530352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2862072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Scanner DAST 12 tests OWASP — Score 92/100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36976"/>
            <a:ext cx="530352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3264408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Dashboard SIEM 3 onglets (admin only · 60s refresh)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39312"/>
            <a:ext cx="530352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" y="3666744"/>
            <a:ext cx="507492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RGPD Art.15/16/17/33 · AES-256-CBC · HTTPS/HSTS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822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chemeClr val="bg1"/>
                </a:solidFill>
                <a:latin typeface="Calibri"/>
              </a:rPr>
              <a:t>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234440"/>
            <a:ext cx="5394960" cy="347472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675120" y="1252728"/>
            <a:ext cx="5212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chemeClr val="bg1"/>
                </a:solidFill>
                <a:latin typeface="Calibri"/>
              </a:rPr>
              <a:t>COUCHE 2 — INFRASTRUCTURE — Wazuh SIEM Agent actif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627632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720840" y="1655064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Agent 001 actif — coverage 100% (Debian 12)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2029968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20840" y="2057400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213 événements détectés en &lt; 24h sans config extra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432304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840" y="2459736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CIS Benchmark Debian 12 — audit configuration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834640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720840" y="2862072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Module MITRE ATT&amp;CK — T1499/T1562 classifiés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0" y="3236976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20840" y="3264408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Module GDPR — Art.15/17/33 infrastructure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0" y="3639312"/>
            <a:ext cx="539496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20840" y="3666744"/>
            <a:ext cx="516636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Vulnerability Detection — 17 CVE/CVSS détectées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4315968"/>
            <a:ext cx="11612880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7200" y="4352544"/>
            <a:ext cx="1124712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chemeClr val="bg1"/>
                </a:solidFill>
                <a:latin typeface="Calibri"/>
              </a:rPr>
              <a:t>→  CDC §3.3 couvert à 100% : Accès sécurisé (RBAC) · Conformité RGPD · Journalisation des actions · HTTPS · Monitoring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Defense in Depth = 2 couches complémentaires. Applicatif sécurise les accès web. Wazuh surveille l'infrastructure système.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SYNTHÈSE FINALE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976D2"/>
                </a:solidFill>
                <a:latin typeface="Calibri"/>
              </a:rPr>
              <a:t>17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Synthèse — Couverture CDC §3.3 à 100% — 8/8 Exigences FAITES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07008"/>
            <a:ext cx="2304288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EXIGENCE CDC §3.3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6896" y="1207008"/>
            <a:ext cx="2304288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42616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Ref.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19472" y="1207008"/>
            <a:ext cx="2304288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65192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IMPLÉMENTATION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42048" y="1207008"/>
            <a:ext cx="2304288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87768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Module Wazuh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64624" y="1207008"/>
            <a:ext cx="2304288" cy="47548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10344" y="124358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STATUT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68249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20040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Accès sécurisé id/mdp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596896" y="168249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42616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1·2·3·5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19472" y="168249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65192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JWT HS256 · bcrypt 12r · WAF · rate limit · lockout 5 échecs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42048" y="168249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87768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Security Events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64624" y="168249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610344" y="170992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HTTPS obligatoire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96896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642616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19472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65192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Firebase HTTPS auto · Helmet HSTS max-age=31536000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42048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87768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564624" y="215798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610344" y="218541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263347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RGPD conforme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96896" y="263347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642616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5·6·8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19472" y="263347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965192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DATA_EXPORT · DATA_ANONYMIZE · AES-256 · Art.15/16/17/33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42048" y="263347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87768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Module GDPR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564624" y="263347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610344" y="266090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RBAC — Gestion rôles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596896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642616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5·6·8·9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19472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65192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checkRole() Firestore · 4 rôles · Firestore Rules deny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42048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87768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Security Events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64624" y="3108960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10344" y="3136392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" y="3584448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20040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Journalisation actions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96896" y="3584448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642616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6·7·8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19472" y="3584448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965192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9 events immuables · SIEM dashboard · serverTimestamp()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42048" y="3584448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87768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213+ events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64624" y="3584448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610344" y="3611880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74320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Détection vulnérabilités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596896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642616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Wazuh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19472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65192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17 CVE identifiées · Plan correctif prioritisé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42048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287768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Vuln Detector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564624" y="4059936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610344" y="4087368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453542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320040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Intégrité fichiers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96896" y="453542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642616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Wazuh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19472" y="453542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4965192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FIM 2500+ · Rule 550 · Hash SHA-256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42048" y="453542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87768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Integrity Mon.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564624" y="4535424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610344" y="4562856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74320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320040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3E"/>
                </a:solidFill>
                <a:latin typeface="Calibri"/>
              </a:rPr>
              <a:t>Détection menaces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96896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642616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Wazuh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19472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965192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MITRE ATT&amp;CK T1499/T1562 · 1600+ alertes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42048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287768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MITRE ATT&amp;CK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564624" y="5010912"/>
            <a:ext cx="2304288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42A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610344" y="5038344"/>
            <a:ext cx="2231136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1B3E"/>
                </a:solidFill>
                <a:latin typeface="Calibri"/>
              </a:rPr>
              <a:t>✓ FAIT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4320" y="5230368"/>
            <a:ext cx="11612880" cy="43891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57200" y="52578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CDC §3.3 couvert à 100% : chaque exigence a une implémentation technique vérifiable et démontrable en live devant le jury.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chemeClr val="bg1"/>
                </a:solidFill>
                <a:latin typeface="Calibri"/>
              </a:rPr>
              <a:t>💬 8 exigences, 8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implémentées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,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toutes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vérifiables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Wazuh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assure les 3 </a:t>
            </a:r>
            <a:r>
              <a:rPr sz="900" b="0" i="1" dirty="0" err="1">
                <a:solidFill>
                  <a:schemeClr val="bg1"/>
                </a:solidFill>
                <a:latin typeface="Calibri"/>
              </a:rPr>
              <a:t>dernières</a:t>
            </a:r>
            <a:r>
              <a:rPr sz="900" b="0" i="1" dirty="0">
                <a:solidFill>
                  <a:schemeClr val="bg1"/>
                </a:solidFill>
                <a:latin typeface="Calibri"/>
              </a:rPr>
              <a:t> exigences infrastructure.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chemeClr val="bg1"/>
                </a:solidFill>
                <a:latin typeface="Calibri"/>
              </a:rPr>
              <a:t>BILAN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chemeClr val="bg1"/>
                </a:solidFill>
                <a:latin typeface="Calibri"/>
              </a:rPr>
              <a:t>18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chemeClr val="bg1"/>
                </a:solidFill>
                <a:latin typeface="Calibri"/>
              </a:rPr>
              <a:t>Bilan Global — Points Forts Réalisés &amp; Perspectives Post-Soutenance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5486400" cy="3200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25272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Calibri"/>
              </a:rPr>
              <a:t>✅  Points Forts Réalisés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600200"/>
            <a:ext cx="54864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1480" y="1627632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WAF maison — 5 types OWASP bloqués (waf.js)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02536"/>
            <a:ext cx="548640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1480" y="2029968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9 audit logs immuables Firestore (append-only)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04872"/>
            <a:ext cx="54864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1480" y="2432304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Dashboard SIEM /monitoring — Score /100 temps réel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07208"/>
            <a:ext cx="548640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11480" y="2834640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Scanner DAST 12 tests OWASP automatisés (92/100)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09544"/>
            <a:ext cx="54864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" y="3236976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Wazuh SIEM — 213 événements &lt; 24h détectés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80"/>
            <a:ext cx="5486400" cy="374904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1480" y="3639312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Agent Wazuh actif — coverage 100%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014216"/>
            <a:ext cx="54864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11480" y="4041648"/>
            <a:ext cx="52120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✓ CDC §3.3 couvert à 100% — toutes exigences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234440"/>
            <a:ext cx="5943600" cy="3200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035040" y="12527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chemeClr val="bg1"/>
                </a:solidFill>
                <a:latin typeface="Calibri"/>
              </a:rPr>
              <a:t>→  Perspectives Post-Soutenance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600200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162763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Déploiement Azure Container Apps (nginx SPA)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002536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080760" y="202996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Alertes email/SMS automatiques (Twilio / SendGrid)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404872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080760" y="2432304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Intégration CI/CD pipeline sécurité (GitHub Actions)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2807208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80760" y="2834640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Wazuh agent sur serveur production (hors Docker)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209544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080760" y="3236976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Rotation automatique clés JWT (Redis blacklist)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611880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080760" y="3639312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Dashboard Grafana (métriques Firebase + Wazuh)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4014216"/>
            <a:ext cx="5943600" cy="374904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0760" y="4041648"/>
            <a:ext cx="566928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chemeClr val="bg1"/>
                </a:solidFill>
                <a:latin typeface="Calibri"/>
              </a:rPr>
              <a:t>→ Pentest professionnel post-déploiement (OWASP ZAP)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82880" y="6309360"/>
            <a:ext cx="11887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chemeClr val="bg1"/>
                </a:solidFill>
                <a:latin typeface="Calibri"/>
              </a:rPr>
              <a:t>💬 Maîtrise complète de la sécurité applicative + infrastructure. Prochaines étapes pour augmenter la maturité du système.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" y="18288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RÉCAPITULATIF KPI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976D2"/>
                </a:solidFill>
                <a:latin typeface="Calibri"/>
              </a:rPr>
              <a:t>19 / 20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320040"/>
            <a:ext cx="11612880" cy="5943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Chiffres Clés à Retenir — KPI Complets du Projet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436 420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Security Events Wazuh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280160"/>
            <a:ext cx="265176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100/100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Score Dashboard App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80160"/>
            <a:ext cx="265176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92/100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Score DAST (12 tests)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280160"/>
            <a:ext cx="265176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0" y="1325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17 CVE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7830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8 High + 9 Medium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1945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8/8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Exigences CDC §3.3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21945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4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Types AuditLogs immuables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1945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2648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Catégories OWASP vérifiées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21945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961120" y="2240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2697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Articles RGPD couverts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089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Rôles RBAC — moindre privilège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3108960"/>
            <a:ext cx="265176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4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12r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bcrypt rounds — anti-brute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3108960"/>
            <a:ext cx="2651760" cy="77724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12648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AES-256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Chiffrement données sensibles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3108960"/>
            <a:ext cx="2651760" cy="7772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961120" y="31546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61120" y="36118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Agents Wazuh coverage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263640"/>
            <a:ext cx="12188952" cy="54864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82880" y="6309360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42A5F5"/>
                </a:solidFill>
                <a:latin typeface="Calibri"/>
              </a:rPr>
              <a:t>💬 CVE-2019-5736 CVSS3=8.6 · T1565.001 Stored Data Manipulation ~95% · Rule 550 Level 7 FIM dominant · Defense in Depth 2 couches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18288"/>
            <a:ext cx="121889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 dirty="0">
                <a:solidFill>
                  <a:srgbClr val="1976D2"/>
                </a:solidFill>
                <a:latin typeface="Calibri"/>
              </a:rPr>
              <a:t>PFE CYBERSÉCURITÉ / CYBERDÉFENSE — YNOV Campus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1976D2"/>
                </a:solidFill>
                <a:latin typeface="Calibri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 dirty="0">
                <a:solidFill>
                  <a:srgbClr val="42A5F5"/>
                </a:solidFill>
                <a:latin typeface="Calibri"/>
              </a:rPr>
              <a:t>Questions &amp; </a:t>
            </a:r>
            <a:r>
              <a:rPr sz="2000" b="1" i="0" dirty="0" err="1">
                <a:solidFill>
                  <a:srgbClr val="42A5F5"/>
                </a:solidFill>
                <a:latin typeface="Calibri"/>
              </a:rPr>
              <a:t>Démonstration</a:t>
            </a:r>
            <a:r>
              <a:rPr sz="2000" b="1" i="0" dirty="0">
                <a:solidFill>
                  <a:srgbClr val="42A5F5"/>
                </a:solidFill>
                <a:latin typeface="Calibri"/>
              </a:rPr>
              <a:t> Live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035808"/>
            <a:ext cx="9418320" cy="365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3154680"/>
            <a:ext cx="10698480" cy="10972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03327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chemeClr val="bg1"/>
                </a:solidFill>
                <a:latin typeface="Calibri"/>
              </a:rPr>
              <a:t>"Le monitoring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couvre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intégralement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le CDC §3.3 sur deux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niveaux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:
monitoring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applicatif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(WAF · 9 audit logs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Firestore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· dashboard SIEM /monitoring · DAST 12 tests)
et monitoring infrastructure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Wazuh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(213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événements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· MITRE ATT&amp;CK · GDPR · CIS Benchmark).
Ensemble,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ils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assurent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une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défense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en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profondeur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chemeClr val="bg1"/>
                </a:solidFill>
                <a:latin typeface="Calibri"/>
              </a:rPr>
              <a:t>conforme</a:t>
            </a:r>
            <a:r>
              <a:rPr sz="1000" b="0" i="1" dirty="0">
                <a:solidFill>
                  <a:schemeClr val="bg1"/>
                </a:solidFill>
                <a:latin typeface="Calibri"/>
              </a:rPr>
              <a:t> RGPD."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4343400"/>
            <a:ext cx="9418320" cy="36576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446227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Amine BAHOU  /  Anass Akker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dirty="0">
                <a:solidFill>
                  <a:srgbClr val="1976D2"/>
                </a:solidFill>
                <a:latin typeface="Calibri"/>
              </a:rPr>
              <a:t>PFE Bachelor </a:t>
            </a:r>
            <a:r>
              <a:rPr sz="1100" b="0" i="0" dirty="0" err="1">
                <a:solidFill>
                  <a:srgbClr val="1976D2"/>
                </a:solidFill>
                <a:latin typeface="Calibri"/>
              </a:rPr>
              <a:t>Cybersécurité</a:t>
            </a:r>
            <a:r>
              <a:rPr sz="1100" b="0" i="0" dirty="0">
                <a:solidFill>
                  <a:srgbClr val="1976D2"/>
                </a:solidFill>
                <a:latin typeface="Calibri"/>
              </a:rPr>
              <a:t> / </a:t>
            </a:r>
            <a:r>
              <a:rPr sz="1100" b="0" i="0" dirty="0" err="1">
                <a:solidFill>
                  <a:srgbClr val="1976D2"/>
                </a:solidFill>
                <a:latin typeface="Calibri"/>
              </a:rPr>
              <a:t>Cyberdéfense</a:t>
            </a:r>
            <a:r>
              <a:rPr sz="1100" b="0" i="0" dirty="0">
                <a:solidFill>
                  <a:srgbClr val="1976D2"/>
                </a:solidFill>
                <a:latin typeface="Calibri"/>
              </a:rPr>
              <a:t> — YNOV Campus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3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FFFFFF"/>
                </a:solidFill>
                <a:latin typeface="Calibri"/>
              </a:rPr>
              <a:t>OWASP Top 10  ·  RGPD UE 2016/679  ·  CDC §3.3 100%  ·  Wazuh 4.7.4  ·  JWT HS256  ·  AES-256-CBC  ·  Defense in Depth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15A18A6-7936-944E-A190-C9DD7C76F150}">
  <we:reference id="WA200005566" version="3.0.0.2" store="Omex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1521</TotalTime>
  <Words>3022</Words>
  <Application>Microsoft Macintosh PowerPoint</Application>
  <PresentationFormat>Personnalisé</PresentationFormat>
  <Paragraphs>459</Paragraphs>
  <Slides>20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AKKER Anass</cp:lastModifiedBy>
  <cp:revision>60</cp:revision>
  <dcterms:created xsi:type="dcterms:W3CDTF">2013-01-27T09:14:16Z</dcterms:created>
  <dcterms:modified xsi:type="dcterms:W3CDTF">2026-04-23T00:37:59Z</dcterms:modified>
  <cp:category/>
</cp:coreProperties>
</file>