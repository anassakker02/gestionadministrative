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88"/>
    <p:restoredTop sz="94737"/>
  </p:normalViewPr>
  <p:slideViewPr>
    <p:cSldViewPr snapToGrid="0" snapToObjects="1">
      <p:cViewPr varScale="1">
        <p:scale>
          <a:sx n="145" d="100"/>
          <a:sy n="145" d="100"/>
        </p:scale>
        <p:origin x="2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PFE CYBERSÉCURITÉ / CYBERDÉFENSE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SÉCURITÉ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2A5F5"/>
                </a:solidFill>
                <a:latin typeface="Calibri"/>
              </a:rPr>
              <a:t>Application Web — Gestion Scolaire YNOV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2A5F5"/>
                </a:solidFill>
                <a:latin typeface="Calibri"/>
              </a:rPr>
              <a:t>Phase 3 — Post-Production  ·  WAF  ·  SIEM  ·  DAST  ·  Wazuh 4.7.4  ·  CDC §3.3 à 100%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926080"/>
            <a:ext cx="11640312" cy="2743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9516" y="3108960"/>
            <a:ext cx="2560320" cy="45720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5236" y="314553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OWASP Top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2716" y="3108960"/>
            <a:ext cx="2560320" cy="45720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88436" y="314553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RGPD UE 2016/679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3108960"/>
            <a:ext cx="2560320" cy="45720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1636" y="314553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CDC §3.3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29116" y="3108960"/>
            <a:ext cx="2560320" cy="45720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74836" y="314553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Wazuh 4.7.4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1783080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794759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97679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Catégories OWASP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3749039"/>
            <a:ext cx="1783080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0" y="3794759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297679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Articles RGPD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749039"/>
            <a:ext cx="1783080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0" y="3794759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297679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Tests DAST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749039"/>
            <a:ext cx="1783080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0" y="3794759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2 500+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97679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FIM Events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749039"/>
            <a:ext cx="1783080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3794759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297679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CVE Détectées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3749039"/>
            <a:ext cx="1783080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66960" y="3794759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1 600+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4297679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MITRE ATT&amp;CK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309360"/>
            <a:ext cx="11247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100" dirty="0">
                <a:solidFill>
                  <a:schemeClr val="bg1"/>
                </a:solidFill>
              </a:rPr>
              <a:t>Nous présentons un projet réel de sécurisation complète d’une application web, basé sur OWASP, le RGPD et le SIEM </a:t>
            </a:r>
            <a:r>
              <a:rPr lang="fr-MA" sz="1100" dirty="0" err="1">
                <a:solidFill>
                  <a:schemeClr val="bg1"/>
                </a:solidFill>
              </a:rPr>
              <a:t>Wazuh</a:t>
            </a:r>
            <a:r>
              <a:rPr lang="fr-MA" sz="1100" dirty="0">
                <a:solidFill>
                  <a:schemeClr val="bg1"/>
                </a:solidFill>
              </a:rPr>
              <a:t>, avec des résultats mesurés en live.</a:t>
            </a:r>
          </a:p>
        </p:txBody>
      </p:sp>
      <p:pic>
        <p:nvPicPr>
          <p:cNvPr id="37" name="Audio 36">
            <a:extLst>
              <a:ext uri="{FF2B5EF4-FFF2-40B4-BE49-F238E27FC236}">
                <a16:creationId xmlns:a16="http://schemas.microsoft.com/office/drawing/2014/main" id="{37A4BC7A-75C3-F8A9-60BE-33FF2C242A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3625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435"/>
    </mc:Choice>
    <mc:Fallback>
      <p:transition spd="slow" advTm="314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CONTEXTE &amp; OBJECTIFS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02 / 20  —  Périmètre PFE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303520" cy="1920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2A5F5"/>
                </a:solidFill>
                <a:latin typeface="Calibri"/>
              </a:rPr>
              <a:t>Application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Stack : React (frontend) + Node.js (backend)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762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Base de données : Firebase / Firestore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2374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Déploiement : Docker + Firebase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7121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Utilisateurs : admin, sous-admin, comptable, étudiant/parent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29000"/>
            <a:ext cx="5303520" cy="1920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474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2A5F5"/>
                </a:solidFill>
                <a:latin typeface="Calibri"/>
              </a:rPr>
              <a:t>Objectifs PFE — 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86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Sécuriser l'application web (OWASP Top 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1788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Implémenter WAF, RBAC, audit logs immuables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4714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Assurer la conformité RGPD (6 articles)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640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Déployer Wazuh SIEM — surveillance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0566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Atteindre CDC §3.3 à 100% (8/8 exigences)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371600"/>
            <a:ext cx="6035040" cy="5029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97880" y="139903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Frameworks &amp; Standards Appliqués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2011680"/>
            <a:ext cx="603504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2039112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OWASP Top 10 (2021)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322576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10 catégories vérifiées — 8 corrigées, 1 surveillée, 1 N/A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2770632"/>
            <a:ext cx="603504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0" y="2798064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RGPD UE 2016/679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08152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6 articles implémentés — Art.15/16/17/25/32/33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3529584"/>
            <a:ext cx="603504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0" y="3557016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CDC §3.3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8404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8/8 exigences couvertes — toutes vérifiables en live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4288536"/>
            <a:ext cx="603504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0" y="4315968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Wazuh 4.7.4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5994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SIEM + FIM + CVE + MITRE ATT&amp;CK + GDPR module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5047488"/>
            <a:ext cx="603504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5074920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MITRE ATT&amp;CK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35838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1 600+ alertes classifiées — T1499/T1562/T1565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5806440"/>
            <a:ext cx="603504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0" y="5833872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CIS Benchmark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6117336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Debian 12 — audit configuration automatique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11612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Nous avons sécurisé une application de gestion scolaire en protégeant ses données sensibles et en appliquant des standards de sécurité reconnus.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PIPELINE DE SÉCURITÉ — 8 COUCHES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03 / 20  —  De la Requête à l'Alerte SIEM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73152" cy="52120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5303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0817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WAF (waf.js)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435608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SQLi · XSS · PathTraversal · CmdInj · Agents suspects  →  HTTP 403 + WAF_BLOCK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9280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A5F5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9968"/>
            <a:ext cx="2560320" cy="53035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066544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Rate Limiter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093976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100 req/15min global · 5 échecs  →  AUTH_LOCKOUT  →  HTTP 429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5117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A5F5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88336"/>
            <a:ext cx="2560320" cy="5303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72491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verifyJWT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75234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JWT HS256 · expiration 24h · signature  →  HTTP 401 si invalide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20954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A5F5"/>
                </a:solidFill>
                <a:latin typeface="Calibri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46704"/>
            <a:ext cx="2560320" cy="5303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checkRole() Firestore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410712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Re-lecture rôle BDD à chaque requête  →  HTTP 403 + ACCESS_DENIED si insuffisant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8679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A5F5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05072"/>
            <a:ext cx="2560320" cy="53035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04164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Route Handler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069080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Traitement métier sécurisé  →  Réponse applicative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52628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A5F5"/>
                </a:solidFill>
                <a:latin typeface="Calibr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2560320" cy="5303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70001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auditLogger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4727448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9 types events · Firestore immuable · serverTimestamp()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18464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A5F5"/>
                </a:solidFill>
                <a:latin typeface="Calibri"/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21808"/>
            <a:ext cx="2560320" cy="5303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5358384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Dashboard /monitoring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385816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Score /100 · WAF stats · SIEM logs · 4 alertes auto · 60s refresh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84301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A5F5"/>
                </a:solidFill>
                <a:latin typeface="Calibri"/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80176"/>
            <a:ext cx="2560320" cy="53035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601675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Wazuh SIEM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604418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CIS Benchmark · MITRE ATT&amp;CK · FIM · CVE · GDPR · Agent actif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74536"/>
            <a:ext cx="116128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Chaque requête passe par 8 couches de sécurité (WAF, authentification, RBAC, logs, SIEM) garantissant un contrôle total avant accès aux données.</a:t>
            </a:r>
          </a:p>
          <a:p>
            <a:pPr algn="l"/>
            <a:endParaRPr sz="1050" b="0" i="1" dirty="0">
              <a:solidFill>
                <a:srgbClr val="42A5F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AUDIT OWASP TOP 10 (2021) — 10 Catégories Vérifiées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04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2880360" cy="41148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344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CATÉGORIE OWASP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325880"/>
            <a:ext cx="6172200" cy="41148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344168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IMPLÉMENTATION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1325880"/>
            <a:ext cx="1691640" cy="41148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55480" y="13441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83080"/>
            <a:ext cx="288036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783080"/>
            <a:ext cx="617220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509760" y="1783080"/>
            <a:ext cx="169164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8288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A01 — Broken 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8288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RBAC · checkRole() · Firestore Rules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837944"/>
            <a:ext cx="1554480" cy="3017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46920" y="1874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CORRIGÉ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40280"/>
            <a:ext cx="288036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46120" y="2240280"/>
            <a:ext cx="617220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09760" y="2240280"/>
            <a:ext cx="169164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2860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A02 — Cryptographic Failures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2860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AES-256-CBC · HTTPS · bcrypt 12 rounds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295144"/>
            <a:ext cx="1554480" cy="3017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46920" y="23317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CORRIGÉ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97480"/>
            <a:ext cx="288036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46120" y="2697480"/>
            <a:ext cx="617220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09760" y="2697480"/>
            <a:ext cx="169164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27432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A03 — Injection SQLi·XSS·Cmd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7432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WAF waf.js  →  HTTP 403 + WAF_BLOCK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2752344"/>
            <a:ext cx="1554480" cy="3017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46920" y="27889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CORRIGÉ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54680"/>
            <a:ext cx="288036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46120" y="3154680"/>
            <a:ext cx="617220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09760" y="3154680"/>
            <a:ext cx="169164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32004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A04 — Insecure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32004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Architecture JWT + RBAC dès la conception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3209544"/>
            <a:ext cx="1554480" cy="3017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46920" y="32461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CORRIGÉ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611880"/>
            <a:ext cx="288036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46120" y="3611880"/>
            <a:ext cx="617220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509760" y="3611880"/>
            <a:ext cx="169164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36576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A05 — Security Misconfiguration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36576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Helmet · CORS strict · Headers HTTP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3666744"/>
            <a:ext cx="1554480" cy="3017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46920" y="37033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CORRIGÉ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069080"/>
            <a:ext cx="288036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46120" y="4069080"/>
            <a:ext cx="617220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509760" y="4069080"/>
            <a:ext cx="169164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" y="41148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A06 — Vulnerable Components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41148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Wazuh Vulnerability Detection — 17 CVE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0" y="4123944"/>
            <a:ext cx="1554480" cy="3017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46920" y="4160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SURVEILLÉ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526280"/>
            <a:ext cx="288036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246120" y="4526280"/>
            <a:ext cx="617220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509760" y="4526280"/>
            <a:ext cx="169164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" y="45720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A07 — Auth &amp; Session Failures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45720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Rate limiting · lockout 5 échecs · JWT 24h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01200" y="4581144"/>
            <a:ext cx="1554480" cy="3017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46920" y="46177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CORRIGÉ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983480"/>
            <a:ext cx="288036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246120" y="4983480"/>
            <a:ext cx="617220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509760" y="4983480"/>
            <a:ext cx="169164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0040" y="50292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A08 — Data Integrity Failures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1840" y="50292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auditLogs immuables · JWT signé HS256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5038344"/>
            <a:ext cx="1554480" cy="3017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646920" y="50749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CORRIGÉ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440680"/>
            <a:ext cx="288036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246120" y="5440680"/>
            <a:ext cx="617220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509760" y="5440680"/>
            <a:ext cx="1691640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0040" y="54864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A09 — Security Logging Failures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91840" y="54864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9 types audit logs Firestore · SIEM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01200" y="5495544"/>
            <a:ext cx="1554480" cy="3017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46920" y="55321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CORRIGÉ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5897880"/>
            <a:ext cx="288036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246120" y="5897880"/>
            <a:ext cx="617220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509760" y="5897880"/>
            <a:ext cx="1691640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20040" y="59436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A10 — SSRF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91840" y="59436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Non applicable — pas d'appels serveur→serveur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01200" y="5952744"/>
            <a:ext cx="1554480" cy="3017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646920" y="59893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6492240"/>
            <a:ext cx="11612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Nous avons corrigé 8 vulnérabilités critiques de l’OWASP, surveillé 1, et 1 n’est pas applicable à notre architecture.</a:t>
            </a:r>
            <a:endParaRPr sz="1050" b="0" i="1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WAF waf.js — 5 Vecteurs OWASP Bloqués · Première Ligne de Défense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05 / 20  —  Sécurité Applicative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514600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38988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TYPE D'ATTAQUE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371600"/>
            <a:ext cx="1143000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138988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SÉVÉRITÉ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71600"/>
            <a:ext cx="7909559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1389888"/>
            <a:ext cx="7863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 WAF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01368"/>
            <a:ext cx="2514600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0360" y="1801368"/>
            <a:ext cx="1143000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0" y="1801368"/>
            <a:ext cx="7909559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86537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Injection 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865376"/>
            <a:ext cx="1097280" cy="3017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71800" y="1901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CRITIQUE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865376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SELECT/UNION/DROP/OR 1=1  →  HTTP 403 + WAF_BLOCK loggué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76856"/>
            <a:ext cx="2514600" cy="438912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80360" y="2276856"/>
            <a:ext cx="1143000" cy="438912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0" y="2276856"/>
            <a:ext cx="7909559" cy="438912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34086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XSS Cross-Site Scripting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340864"/>
            <a:ext cx="1097280" cy="3017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71800" y="23774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HAUTE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340864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&lt;script&gt; · eval() · onerror=  →  HTTP 403 · CSP default-src 'self'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52344"/>
            <a:ext cx="2514600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880360" y="2752344"/>
            <a:ext cx="1143000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0" y="2752344"/>
            <a:ext cx="7909559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28163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Path Traversal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2816352"/>
            <a:ext cx="1097280" cy="3017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71800" y="28529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HAUTE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2816352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../../ · %2e%2e · /etc/passwd  →  HTTP 403 + WAF_BLOCK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227832"/>
            <a:ext cx="2514600" cy="438912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80360" y="3227832"/>
            <a:ext cx="1143000" cy="438912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14800" y="3227832"/>
            <a:ext cx="7909559" cy="438912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329184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Command Injection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3291840"/>
            <a:ext cx="1097280" cy="3017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71800" y="332841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HAUTE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3291840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; &amp;&amp; | $()  →  HTTP 403 + WAF_BLOCK loggué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703320"/>
            <a:ext cx="2514600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880360" y="3703320"/>
            <a:ext cx="1143000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14800" y="3703320"/>
            <a:ext cx="7909559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376732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Scanners suspects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3767328"/>
            <a:ext cx="1097280" cy="3017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71800" y="380390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HAUTE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3767328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sqlmap/nikto/nmap User-Agent  →  HTTP 403 bloqué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251960"/>
            <a:ext cx="11640312" cy="530352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4297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88E5"/>
                </a:solidFill>
                <a:latin typeface="Courier New"/>
              </a:rPr>
              <a:t># SQLi bloqué  →  curl '...?id=1 OR 1=1'  →  HTTP 403   |   XSS  →  curl '...?nom=&lt;script&gt;alert(1)&lt;/script&gt;'  →  HTTP 403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892040"/>
            <a:ext cx="1164031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4937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BRUTE FORCE PROTECTION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53035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Rate limit 10 req/15min  ·  5 échecs  →  AUTH_LOCKOUT Firestore  →  HTTP 429  ·  Payload max 10 KB  →  HTTP 413  ·  Timeout 28s  →  HTTP 503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6492240"/>
            <a:ext cx="11612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Notre WAF bloque automatiquement les attaques comme </a:t>
            </a:r>
            <a:r>
              <a:rPr lang="fr-MA" sz="1050" dirty="0" err="1">
                <a:solidFill>
                  <a:schemeClr val="bg1"/>
                </a:solidFill>
              </a:rPr>
              <a:t>SQLi</a:t>
            </a:r>
            <a:r>
              <a:rPr lang="fr-MA" sz="1050" dirty="0">
                <a:solidFill>
                  <a:schemeClr val="bg1"/>
                </a:solidFill>
              </a:rPr>
              <a:t>, XSS, ou brute force avant même l’authentification.</a:t>
            </a:r>
            <a:endParaRPr sz="1050" b="0" i="1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RBAC </a:t>
            </a:r>
            <a:r>
              <a:rPr lang="fr-FR" sz="2800" b="1" i="0" dirty="0">
                <a:solidFill>
                  <a:srgbClr val="FFFFFF"/>
                </a:solidFill>
                <a:latin typeface="Calibri"/>
              </a:rPr>
              <a:t>(ROLE-BASED ACCESS CONTROL)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— Gestion des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Accès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par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Rôle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Moindre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Privilège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9235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42A5F5"/>
                </a:solidFill>
                <a:latin typeface="Calibri"/>
              </a:rPr>
              <a:t>06 / 20  —  CDC §3.3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3840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743200" cy="502920"/>
          </a:xfrm>
          <a:prstGeom prst="rect">
            <a:avLst/>
          </a:prstGeom>
          <a:solidFill>
            <a:srgbClr val="0A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3F2FD"/>
                </a:solidFill>
                <a:latin typeface="Calibri"/>
              </a:rPr>
              <a:t>Accès complet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9125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toutes 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2102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5079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exports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371600"/>
            <a:ext cx="2743200" cy="384048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18688" y="1371600"/>
            <a:ext cx="2743200" cy="502920"/>
          </a:xfrm>
          <a:prstGeom prst="rect">
            <a:avLst/>
          </a:prstGeom>
          <a:solidFill>
            <a:srgbClr val="0A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18688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sous-admin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3F2FD"/>
                </a:solidFill>
                <a:latin typeface="Calibri"/>
              </a:rPr>
              <a:t>Gestion opérationnelle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2331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étudiants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7614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319125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paiements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62102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factures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405079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rapports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3056" y="1371600"/>
            <a:ext cx="2743200" cy="38404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63056" y="1371600"/>
            <a:ext cx="2743200" cy="502920"/>
          </a:xfrm>
          <a:prstGeom prst="rect">
            <a:avLst/>
          </a:prstGeom>
          <a:solidFill>
            <a:srgbClr val="0A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63056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comptable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3F2FD"/>
                </a:solidFill>
                <a:latin typeface="Calibri"/>
              </a:rPr>
              <a:t>Finance uniquement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331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lecture paiements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27614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génération factures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319125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exports uniquement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07424" y="1371600"/>
            <a:ext cx="2743200" cy="3840480"/>
          </a:xfrm>
          <a:prstGeom prst="rect">
            <a:avLst/>
          </a:prstGeom>
          <a:solidFill>
            <a:srgbClr val="1A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07424" y="1371600"/>
            <a:ext cx="2743200" cy="502920"/>
          </a:xfrm>
          <a:prstGeom prst="rect">
            <a:avLst/>
          </a:prstGeom>
          <a:solidFill>
            <a:srgbClr val="0A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07424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étudiant/parent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3F2FD"/>
                </a:solidFill>
                <a:latin typeface="Calibri"/>
              </a:rPr>
              <a:t>Portail personnel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8864" y="2331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propres données uniquement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27614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lecture seule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319125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pas d'admin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349240"/>
            <a:ext cx="1164031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539496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Implémentation : checkRole(['admin','sous-admin']) sur chaque route  ·  Re-lecture rôle Firestore à CHAQUE requête (jamais depuis JWT uniquement)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92240"/>
            <a:ext cx="116128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900" dirty="0">
                <a:solidFill>
                  <a:schemeClr val="bg1"/>
                </a:solidFill>
              </a:rPr>
              <a:t>Nous avons mis en place un contrôle d’accès strict où chaque utilisateur a uniquement les droits nécessaires, vérifiés en temps réel.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CONFORMITÉ RGPD (UE 2016/679) — 6 Articles Implémentés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07 / 20  —  CDC §3.3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749039" cy="1920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Art. 15 — Droit d'accès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3566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Export données personnelles
DATA_EXPORT loggué · GET /users/:id/export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371600"/>
            <a:ext cx="3749039" cy="1920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15968" y="146304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Art. 16 — Rectification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920240"/>
            <a:ext cx="3566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Modification données
CRUD loggué avec serverTimestamp()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4736" y="1371600"/>
            <a:ext cx="3749039" cy="1920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66176" y="146304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Art. 17 — Droit à l'effacement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1920240"/>
            <a:ext cx="3566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Anonymisation DATA_ANONYMIZE
champs remplacés · log conservé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29000"/>
            <a:ext cx="3749039" cy="1920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52044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Art. 25 — Privacy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977640"/>
            <a:ext cx="3566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AES-256-CBC · HTTPS · RBAC
principe du moindre privilège dès conception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3429000"/>
            <a:ext cx="3749039" cy="1920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15968" y="352044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Art. 32 — Sécurité du traitement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977640"/>
            <a:ext cx="3566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WAF + JWT HS256 + bcrypt 12 rounds
rate limiting + HTTPS/HSTS max-age=31536000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3429000"/>
            <a:ext cx="3749039" cy="1920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6176" y="352044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Art. 33 — Notification violation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3977640"/>
            <a:ext cx="3566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Alerte CRITIQUE auditLogs
Procédure 72h documentée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1612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Nous respectons le RGPD en garantissant l’accès, la modification, et la suppression sécurisée des données utilisateurs.</a:t>
            </a:r>
            <a:endParaRPr sz="1050" b="0" i="1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 Audit Logs Immuables + Security Headers + DAST 92/100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08 / 20  —  CDC §3.3 — Journalisation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340864" cy="34747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3898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EVENT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71600"/>
            <a:ext cx="1426464" cy="34747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13898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NIVEAU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4992624" cy="34747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60" y="138988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DONNÉES LOGGÉES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64792"/>
            <a:ext cx="234086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97480" y="1764792"/>
            <a:ext cx="142646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764792"/>
            <a:ext cx="499262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81965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A5F5"/>
                </a:solidFill>
                <a:latin typeface="Courier New"/>
              </a:rPr>
              <a:t>AUTH_SUCCESS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819656"/>
            <a:ext cx="1325880" cy="3017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18562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8196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userId + IP + horodatage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21992"/>
            <a:ext cx="2340864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97480" y="2221992"/>
            <a:ext cx="1426464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2221992"/>
            <a:ext cx="4992624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27685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A5F5"/>
                </a:solidFill>
                <a:latin typeface="Courier New"/>
              </a:rPr>
              <a:t>AUTH_FAILURE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2276856"/>
            <a:ext cx="1325880" cy="3017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88920" y="23134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2768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userId + IP + tentative n°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79192"/>
            <a:ext cx="234086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697480" y="2679192"/>
            <a:ext cx="142646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06240" y="2679192"/>
            <a:ext cx="499262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273405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A5F5"/>
                </a:solidFill>
                <a:latin typeface="Courier New"/>
              </a:rPr>
              <a:t>AUTH_LOCKOUT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734056"/>
            <a:ext cx="1325880" cy="3017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88920" y="27706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CRITIQUE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7340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userId + IP + durée blocage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36392"/>
            <a:ext cx="2340864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697480" y="3136392"/>
            <a:ext cx="1426464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06240" y="3136392"/>
            <a:ext cx="4992624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319125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A5F5"/>
                </a:solidFill>
                <a:latin typeface="Courier New"/>
              </a:rPr>
              <a:t>LOGOUT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3191256"/>
            <a:ext cx="1325880" cy="3017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88920" y="32278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31912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userId + durée session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593592"/>
            <a:ext cx="234086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697480" y="3593592"/>
            <a:ext cx="142646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206240" y="3593592"/>
            <a:ext cx="499262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364845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A5F5"/>
                </a:solidFill>
                <a:latin typeface="Courier New"/>
              </a:rPr>
              <a:t>SESSION_EXPIRED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3648456"/>
            <a:ext cx="1325880" cy="3017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88920" y="36850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INFO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60" y="36484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userId + last_activity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050792"/>
            <a:ext cx="2340864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697480" y="4050792"/>
            <a:ext cx="1426464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06240" y="4050792"/>
            <a:ext cx="4992624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" y="410565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A5F5"/>
                </a:solidFill>
                <a:latin typeface="Courier New"/>
              </a:rPr>
              <a:t>ACCESS_DENIED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4105656"/>
            <a:ext cx="1325880" cy="3017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88920" y="41422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1960" y="41056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userId + route + rôle tenté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507992"/>
            <a:ext cx="234086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697480" y="4507992"/>
            <a:ext cx="142646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206240" y="4507992"/>
            <a:ext cx="499262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" y="456285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A5F5"/>
                </a:solidFill>
                <a:latin typeface="Courier New"/>
              </a:rPr>
              <a:t>DATA_EXPORT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4562856"/>
            <a:ext cx="1325880" cy="3017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8920" y="45994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INFO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51960" y="45628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userId + données exportées — Art.15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965192"/>
            <a:ext cx="2340864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697480" y="4965192"/>
            <a:ext cx="1426464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206240" y="4965192"/>
            <a:ext cx="4992624" cy="420624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0040" y="502005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A5F5"/>
                </a:solidFill>
                <a:latin typeface="Courier New"/>
              </a:rPr>
              <a:t>DATA_ANONYMIZE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0" y="5020056"/>
            <a:ext cx="1325880" cy="3017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788920" y="50566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51960" y="50200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userId + champs anonymisés — Art.17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422392"/>
            <a:ext cx="234086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697480" y="5422392"/>
            <a:ext cx="142646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206240" y="5422392"/>
            <a:ext cx="4992624" cy="4206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0040" y="547725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2A5F5"/>
                </a:solidFill>
                <a:latin typeface="Courier New"/>
              </a:rPr>
              <a:t>WAF_BLOCK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0" y="5477256"/>
            <a:ext cx="1325880" cy="3017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88920" y="55138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CRITIQUE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51960" y="54772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IP + type attaque + payload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5961888"/>
            <a:ext cx="9006840" cy="45720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65760" y="5989320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88E5"/>
                </a:solidFill>
                <a:latin typeface="Calibri"/>
              </a:rPr>
              <a:t>Firestore Rules : allow update: if false · allow delete: if false  →  LOGS IMMUABLES · serverTimestamp() non manipulable côté client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64040" y="1371600"/>
            <a:ext cx="2423160" cy="2286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55548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Security Headers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HSTS max-age=31536000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55480" y="21305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X-Frame-Options DENY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55480" y="2432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CSP default-src 'self'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55480" y="27340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JWT exp:24h · HS256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55480" y="3035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bcrypt 12 rounds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5548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✓  AES-256-CBC données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464040" y="3749039"/>
            <a:ext cx="2423160" cy="2103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5554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Scanner DAST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12 Tests OWASP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01200" y="4572000"/>
            <a:ext cx="219456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646920" y="46085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SCORE 92/100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5548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11/12 PASS  ·  1 warning CORS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" y="6492240"/>
            <a:ext cx="11612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Tous les événements sont tracés de manière immuable et notre application a obtenu un score de sécurité de 92/100 en test DAST.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DÉMONSTRATION — Dashboard Sécurité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09 / 20  —  Score · Auth · RGPD · RBAC · Audit</a:t>
            </a:r>
          </a:p>
        </p:txBody>
      </p:sp>
      <p:pic>
        <p:nvPicPr>
          <p:cNvPr id="5" name="Picture 4" descr="DASH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13232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0" y="1463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Dashboard Sécurité Complet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745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A5F5"/>
                </a:solidFill>
                <a:latin typeface="Calibri"/>
              </a:rPr>
              <a:t>Auth · RGPD · RBAC · Audit · Score 50/100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331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✓  Accès Sécurisé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5877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3 connexions réussies · 5 échecs · 5 comptes bloqués · 3 sessions expirées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34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✓  RGPD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0906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12 exports Art.15 · 8 anonymisations Art.17 — conformité totale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337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✓ 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59359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10 accès refusés en 24h · 4 dans la dernière heure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✓  Audit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0965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92 événements tracés — immuables, conservés 1 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343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✓  Protections actives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5994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JWT HS256 · Brute force · Rate limiting · bcrypt 12r · Anti-énumération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6080760"/>
            <a:ext cx="4297680" cy="3657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611733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TOUT DÉTECTÉ · BLOQUÉ · TRACÉ EN TEMPS RÉEL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71323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Ce </a:t>
            </a:r>
            <a:r>
              <a:rPr lang="fr-MA" sz="1050" dirty="0" err="1">
                <a:solidFill>
                  <a:schemeClr val="bg1"/>
                </a:solidFill>
              </a:rPr>
              <a:t>dashboard</a:t>
            </a:r>
            <a:r>
              <a:rPr lang="fr-MA" sz="1050" dirty="0">
                <a:solidFill>
                  <a:schemeClr val="bg1"/>
                </a:solidFill>
              </a:rPr>
              <a:t> centralise toute la sécurité applicative : accès, conformité RGPD, contrôle des rôles et traçabilité complète.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DÉMONSTRATION — WAF Monitoring · 44 Attaques Bloquées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10 / 20  —  Pare-feu Applicatif</a:t>
            </a:r>
          </a:p>
        </p:txBody>
      </p:sp>
      <p:pic>
        <p:nvPicPr>
          <p:cNvPr id="5" name="Picture 4" descr="W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13232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0" y="1463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WAF — Résultats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965960"/>
            <a:ext cx="132588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199339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4414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Attaques bloquées (24h)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965960"/>
            <a:ext cx="1325880" cy="82296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0" y="199339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4414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Bloquées (1h)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69880" y="1965960"/>
            <a:ext cx="1325880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69880" y="199339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4414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Total WAF_BLOCK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926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A5F5"/>
                </a:solidFill>
                <a:latin typeface="Calibri"/>
              </a:rPr>
              <a:t>Répartition par type 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291840"/>
            <a:ext cx="256032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6679" y="3328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Injection 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3284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12 (27%)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3675888"/>
            <a:ext cx="2560320" cy="3200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6679" y="37124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XSS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7124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12 (27%)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4059936"/>
            <a:ext cx="2560320" cy="3200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79" y="4096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Path Traversal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0965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8 (18%)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4443984"/>
            <a:ext cx="256032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26679" y="44805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4805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6 (14%)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4828032"/>
            <a:ext cx="2560320" cy="32004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6679" y="48646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Autre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86460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6 (14%)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92240"/>
            <a:ext cx="11612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Ici, on voit en temps réel les attaques bloquées par le WAF, avec leur type et leur origine, ce qui prouve que notre application est protégée activement.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DÉMONSTRATION — Dashboard SIEM · Journal des Événements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11 / 20  —  Security Information &amp; Event Management</a:t>
            </a:r>
          </a:p>
        </p:txBody>
      </p:sp>
      <p:pic>
        <p:nvPicPr>
          <p:cNvPr id="5" name="Picture 4" descr="SI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13232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0" y="1463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SIEM — Agrégation Temps Réel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2011680"/>
            <a:ext cx="1965960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2048256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414016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Événements Auth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38360" y="2011680"/>
            <a:ext cx="1965960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38360" y="2048256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2414016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Événements RBAC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788920"/>
            <a:ext cx="1965960" cy="685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2825496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191256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Événements RGPD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38360" y="2788920"/>
            <a:ext cx="196596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0" y="2825496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191256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Blocages WAF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7490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A5F5"/>
                </a:solidFill>
                <a:latin typeface="Calibri"/>
              </a:rPr>
              <a:t>Intégrité du système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0965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✓  allow update: if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3982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✓  allow delete: if false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00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✓  Lecture réservée aux admins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001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✓  Conservation : 1 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303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✓  serverTimestamp() serveur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56052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✓  9 types d'événements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92240"/>
            <a:ext cx="11612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Ce SIEM applicatif centralise tous les événements de sécurité avec des logs immuables, garantissant une traçabilité fiable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WAZUH 4.7.4 — Architecture Docker · 2 Agents · Coverage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12 / 20  —  Infrastructure SIEM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6217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Application Web (React)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50876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Frontend · auditLogs Firestore · dashboard /monitoring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2A5F5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2743200" cy="62179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API Backend (Node.js)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24028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WAF · JWT · RBAC · Handler · auditLogger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249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2A5F5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2743200" cy="6217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Wazuh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7180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OSSEC · Port 1514 · Chiffrement AES · Push events →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564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2A5F5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66160"/>
            <a:ext cx="2743200" cy="62179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3657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Wazuh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70332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Collecte · corrélation · moteur règles · Port 1514/55000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87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2A5F5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97680"/>
            <a:ext cx="2743200" cy="6217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4389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Wazuh Indexer (OpenSearch)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43484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Stockage alertes · Port 9200 · Full-text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1947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2A5F5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2743200" cy="62179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5120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Wazuh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512064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Interface Kibana fork · Port 443 HTTPS TLS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371600"/>
            <a:ext cx="3566160" cy="292608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14173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Installation — 4 Commandes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8288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88E5"/>
                </a:solidFill>
                <a:latin typeface="Courier New"/>
              </a:rPr>
              <a:t>git clone -b v4.7.4 github.com/wazuh/wazuh-docker.git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2585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88E5"/>
                </a:solidFill>
                <a:latin typeface="Courier New"/>
              </a:rPr>
              <a:t>cd wazuh-docker/single-node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6883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88E5"/>
                </a:solidFill>
                <a:latin typeface="Courier New"/>
              </a:rPr>
              <a:t>docker compose -f generate-indexer-certs.yml run --rm generator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1181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88E5"/>
                </a:solidFill>
                <a:latin typeface="Courier New"/>
              </a:rPr>
              <a:t>docker compose up -d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5478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42A5F5"/>
                </a:solidFill>
                <a:latin typeface="Courier New"/>
              </a:rPr>
              <a:t>→ https://localhost : admin / </a:t>
            </a:r>
            <a:r>
              <a:rPr sz="850" b="0" i="0" dirty="0" err="1">
                <a:solidFill>
                  <a:srgbClr val="42A5F5"/>
                </a:solidFill>
                <a:latin typeface="Courier New"/>
              </a:rPr>
              <a:t>SecretPassword</a:t>
            </a:r>
            <a:endParaRPr sz="850" b="0" i="0" dirty="0">
              <a:solidFill>
                <a:srgbClr val="42A5F5"/>
              </a:solidFill>
              <a:latin typeface="Courier New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321040" y="4434840"/>
            <a:ext cx="3566160" cy="1501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44805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Agents Actifs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847662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Agent 00</a:t>
            </a:r>
            <a:r>
              <a:rPr lang="fr-FR" sz="1100" b="1" i="0" dirty="0">
                <a:solidFill>
                  <a:srgbClr val="FFFFFF"/>
                </a:solidFill>
                <a:latin typeface="Calibri"/>
              </a:rPr>
              <a:t>1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555480" y="48898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E3F2FD"/>
                </a:solidFill>
                <a:latin typeface="Calibri"/>
              </a:rPr>
              <a:t>main-machine · macOS 15.7.4 · Active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60941" y="5356160"/>
            <a:ext cx="2706130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8412480" y="537605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COVERAGE 100% — 2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actifs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· 0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déconnecté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0FD851-7D13-EC6C-4D64-B58CE966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3B1B61-4F93-03ED-65A3-0089553F21C0}"/>
              </a:ext>
            </a:extLst>
          </p:cNvPr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10BE11-19FD-6145-9363-99054CBCEA40}"/>
              </a:ext>
            </a:extLst>
          </p:cNvPr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WAZUH 4.7.4 — Architecture Docker · 2 Agents · Coverage 100%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68BD4-3B4D-8A27-9AE0-3AA952D82B4C}"/>
              </a:ext>
            </a:extLst>
          </p:cNvPr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12 / 20  —  Infrastructure SIEM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82E5FD-60B2-D3D8-8B6F-CFA324856632}"/>
              </a:ext>
            </a:extLst>
          </p:cNvPr>
          <p:cNvSpPr txBox="1"/>
          <p:nvPr/>
        </p:nvSpPr>
        <p:spPr>
          <a:xfrm>
            <a:off x="159582" y="6332774"/>
            <a:ext cx="759928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Nous avons déployé </a:t>
            </a:r>
            <a:r>
              <a:rPr lang="fr-MA" sz="1050" dirty="0" err="1">
                <a:solidFill>
                  <a:schemeClr val="bg1"/>
                </a:solidFill>
              </a:rPr>
              <a:t>Wazuh</a:t>
            </a:r>
            <a:r>
              <a:rPr lang="fr-MA" sz="1050" dirty="0">
                <a:solidFill>
                  <a:schemeClr val="bg1"/>
                </a:solidFill>
              </a:rPr>
              <a:t> pour surveiller l’infrastructure via agents, logs et </a:t>
            </a:r>
            <a:r>
              <a:rPr lang="fr-MA" sz="1050" dirty="0" err="1">
                <a:solidFill>
                  <a:schemeClr val="bg1"/>
                </a:solidFill>
              </a:rPr>
              <a:t>dashboard</a:t>
            </a:r>
            <a:r>
              <a:rPr lang="fr-MA" sz="1050" dirty="0">
                <a:solidFill>
                  <a:schemeClr val="bg1"/>
                </a:solidFill>
              </a:rPr>
              <a:t> sécurisé.</a:t>
            </a: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41316A01-2AE4-E5E3-5E28-ED0E3BD56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82" y="1268931"/>
            <a:ext cx="7599286" cy="483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45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78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WAZUH — Security Events · 436 420 Events · FIM SHA-256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13 / 20  —  Surveillance Temps Réel</a:t>
            </a:r>
          </a:p>
        </p:txBody>
      </p:sp>
      <p:pic>
        <p:nvPicPr>
          <p:cNvPr id="5" name="Picture 4" descr="SECURITY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28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3749039"/>
            <a:ext cx="5760720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37947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Total Events : 436 420 — journalisation complète depuis l'installation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480560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Top Rule : Rule 550 Level 7 — Integrity checksum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MITRE : T1565.001 Stored Data Manipulation (~95%)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175504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Agent : main-machine · macOS 15.7.4 ·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522976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▸  Base de toute la corrélation SIEM — IP source · agent · règle · horodatage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3898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FIM — File Integrity Monitoring</a:t>
            </a:r>
          </a:p>
        </p:txBody>
      </p:sp>
      <p:pic>
        <p:nvPicPr>
          <p:cNvPr id="14" name="Picture 13" descr="wazuh_03_f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669280" cy="274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466344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A5F5"/>
                </a:solidFill>
                <a:latin typeface="Calibri"/>
              </a:rPr>
              <a:t>Règle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4663440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Rule 550 Niveau 7 — Integrity checksum changed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01091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A5F5"/>
                </a:solidFill>
                <a:latin typeface="Calibri"/>
              </a:rPr>
              <a:t>root 89.44%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501091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Modifications binaires système macOS — /var/bin/*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35838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A5F5"/>
                </a:solidFill>
                <a:latin typeface="Calibri"/>
              </a:rPr>
              <a:t>Fichiers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5358384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/var/bin/afsa · /var/bin/apfs · /private/var/db/locationd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70585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A5F5"/>
                </a:solidFill>
                <a:latin typeface="Calibri"/>
              </a:rPr>
              <a:t>Risque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705856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Rootkit/backdoor si modifications non légitimes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05332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A5F5"/>
                </a:solidFill>
                <a:latin typeface="Calibri"/>
              </a:rPr>
              <a:t>Hash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6053328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SHA-256 en temps réel — équivalent IDS filesystem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612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Le module FIM détecte toute modification de fichiers sensibles grâce au hash SHA-256 en temps réel.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WAZUH — Vulnerability Detection · 17 CVE · 8 High + 9 Medium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14 / 20  —  Docker P1 Action Requise</a:t>
            </a:r>
          </a:p>
        </p:txBody>
      </p:sp>
      <p:pic>
        <p:nvPicPr>
          <p:cNvPr id="5" name="Picture 4" descr="wazuh_04_c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943600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1371600"/>
            <a:ext cx="1435608" cy="34747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28232" y="1389888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CVE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1371600"/>
            <a:ext cx="1252728" cy="34747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36992" y="1389888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Package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1371600"/>
            <a:ext cx="566928" cy="34747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62872" y="1389888"/>
            <a:ext cx="539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Sév.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371600"/>
            <a:ext cx="384048" cy="34747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02952" y="1389888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CVSS3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1371600"/>
            <a:ext cx="1527048" cy="34747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60152" y="138988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64792"/>
            <a:ext cx="143560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1764792"/>
            <a:ext cx="125272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5440" y="1764792"/>
            <a:ext cx="56692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875520" y="1764792"/>
            <a:ext cx="38404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332720" y="1764792"/>
            <a:ext cx="152704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1801368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2A5F5"/>
                </a:solidFill>
                <a:latin typeface="Courier New"/>
              </a:rPr>
              <a:t>CVE-2019-5736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801368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Docker 4.43.2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62872" y="1801368"/>
            <a:ext cx="530352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08592" y="1837944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1801368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8.6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0152" y="180136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Container escape → root sur l'hôte via runc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167128"/>
            <a:ext cx="143560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09560" y="2167128"/>
            <a:ext cx="125272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35440" y="2167128"/>
            <a:ext cx="56692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875520" y="2167128"/>
            <a:ext cx="38404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332720" y="2167128"/>
            <a:ext cx="152704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2203704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2A5F5"/>
                </a:solidFill>
                <a:latin typeface="Courier New"/>
              </a:rPr>
              <a:t>CVE-2019-13509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2203704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Docker 4.43.2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62872" y="2203704"/>
            <a:ext cx="530352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08592" y="2240280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2952" y="2203704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0152" y="2203704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Information disclosure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569464"/>
            <a:ext cx="143560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09560" y="2569464"/>
            <a:ext cx="125272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235440" y="2569464"/>
            <a:ext cx="56692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875520" y="2569464"/>
            <a:ext cx="38404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332720" y="2569464"/>
            <a:ext cx="152704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28232" y="2606040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2A5F5"/>
                </a:solidFill>
                <a:latin typeface="Courier New"/>
              </a:rPr>
              <a:t>CVE-2019-16884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36992" y="2606040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Docker 4.43.2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62872" y="2606040"/>
            <a:ext cx="530352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08592" y="2642616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02952" y="2606040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60152" y="2606040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AppArmor bypass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2971800"/>
            <a:ext cx="143560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909560" y="2971800"/>
            <a:ext cx="125272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235440" y="2971800"/>
            <a:ext cx="56692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875520" y="2971800"/>
            <a:ext cx="38404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332720" y="2971800"/>
            <a:ext cx="152704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28232" y="3008376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2A5F5"/>
                </a:solidFill>
                <a:latin typeface="Courier New"/>
              </a:rPr>
              <a:t>CVE-2021-21284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3008376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Docker 4.43.2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62872" y="3008376"/>
            <a:ext cx="5303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08592" y="3044952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02952" y="3008376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6.8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60152" y="3008376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Privilege escalation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3374136"/>
            <a:ext cx="143560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909560" y="3374136"/>
            <a:ext cx="125272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235440" y="3374136"/>
            <a:ext cx="56692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875520" y="3374136"/>
            <a:ext cx="38404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332720" y="3374136"/>
            <a:ext cx="1527048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28232" y="3410712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2A5F5"/>
                </a:solidFill>
                <a:latin typeface="Courier New"/>
              </a:rPr>
              <a:t>CVE-2001-0718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36992" y="3410712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Excel 16.107.3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62872" y="3410712"/>
            <a:ext cx="530352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308592" y="34472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02952" y="3410712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7.5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60152" y="3410712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Input validation failure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0" y="3776472"/>
            <a:ext cx="143560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909560" y="3776472"/>
            <a:ext cx="125272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235440" y="3776472"/>
            <a:ext cx="56692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875520" y="3776472"/>
            <a:ext cx="38404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332720" y="3776472"/>
            <a:ext cx="1527048" cy="365760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28232" y="3813048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2A5F5"/>
                </a:solidFill>
                <a:latin typeface="Courier New"/>
              </a:rPr>
              <a:t>CVE-2014-4715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36992" y="3813048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lz4 1.10.0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62872" y="3813048"/>
            <a:ext cx="5303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308592" y="3849624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02952" y="3813048"/>
            <a:ext cx="356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60152" y="381304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Heap overflow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43400"/>
            <a:ext cx="1417320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400800" y="437083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0" y="480974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63840" y="4343400"/>
            <a:ext cx="1417320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863840" y="437083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63840" y="480974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6880" y="4343400"/>
            <a:ext cx="141732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326880" y="437083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26880" y="480974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789920" y="4343400"/>
            <a:ext cx="141732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789920" y="437083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89920" y="480974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44805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alibri"/>
              </a:rPr>
              <a:t>ACTION PRIORITAIRE P1 : Mise à jour Docker Engine
docker pull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docker:latest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 → 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élimine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8 CVE High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dont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CVE-2019-5736 (CVSS3=8.6 container escape)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4320" y="6492240"/>
            <a:ext cx="11612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Nous avons identifié 17 vulnérabilités système et défini un plan de correction priorisé.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WAZUH — MITRE ATT&amp;CK · T1565.001 · Rootcheck · 4 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15 / 20  —  Classification SOC internationale</a:t>
            </a:r>
          </a:p>
        </p:txBody>
      </p:sp>
      <p:pic>
        <p:nvPicPr>
          <p:cNvPr id="5" name="Picture 4" descr="wazuh_05_mit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0233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MITRE ATT&amp;CK 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389120"/>
            <a:ext cx="118872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4256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T1565.001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425696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Stored Data Manipulation — tactic Impact (dominant ~95%)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846320"/>
            <a:ext cx="118872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48828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T1562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882896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Disable or Modify Tools — tactic Defense Evasion (×6)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3492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2A5F5"/>
                </a:solidFill>
                <a:latin typeface="Calibri"/>
              </a:rPr>
              <a:t>Corrélation : PCI DSS 11.5 · RGPD Art.25 · Privacy by Design 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3898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Rootcheck — Policy Monitoring — Host-based Anomaly Detection</a:t>
            </a:r>
          </a:p>
        </p:txBody>
      </p:sp>
      <p:pic>
        <p:nvPicPr>
          <p:cNvPr id="16" name="Picture 15" descr="POLICY MONITO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669280" cy="228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Calibri"/>
              </a:rPr>
              <a:t>Anomalies détectées 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572000"/>
            <a:ext cx="1463040" cy="32918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46085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Trojaned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59943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Détection de binaires système compromis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001768"/>
            <a:ext cx="1463040" cy="32918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50383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Hidden processes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50292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Processus 26061 caché — tentative de dissimulation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431536"/>
            <a:ext cx="1463040" cy="32918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Promiscuity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545896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Interface en3 en mode promiscuous — capture réseau détectée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861304"/>
            <a:ext cx="1463040" cy="32918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58978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58887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Host-based Anomaly Detection · Rootcheck actif · temps réel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1612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Les attaques sont classées selon MITRE ATT&amp;CK et les anomalies système sont détectées automatiquement.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WAZUH — 5 Modules de Sécurité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Actifs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— CDC </a:t>
            </a:r>
            <a:r>
              <a:rPr lang="fr-FR" sz="2800" b="1" i="0" dirty="0">
                <a:solidFill>
                  <a:srgbClr val="FFFFFF"/>
                </a:solidFill>
                <a:latin typeface="Calibri"/>
              </a:rPr>
              <a:t>(Centre CYBERDÉFENSE) 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§3.3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Couvert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9464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16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194560" cy="4023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194560" cy="475488"/>
          </a:xfrm>
          <a:prstGeom prst="rect">
            <a:avLst/>
          </a:prstGeom>
          <a:solidFill>
            <a:srgbClr val="0A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Security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9659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Tableau central — niveaux 3→15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4231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IP source · agent · règle · horodatage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8803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Base de toute la corrélation 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3375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436 420 events journalisés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371600"/>
            <a:ext cx="2194560" cy="402336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06040" y="1371600"/>
            <a:ext cx="2194560" cy="475488"/>
          </a:xfrm>
          <a:prstGeom prst="rect">
            <a:avLst/>
          </a:prstGeom>
          <a:solidFill>
            <a:srgbClr val="0A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40" y="141732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MITRE ATT&amp;CK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19659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T1499 Impact ×1594 · T1562 Evasion ×6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24231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Taxonomie universelle SOC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8803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Corrélation automatique techniques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33375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PCI DSS 11.5 · RGPD Art.25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371600"/>
            <a:ext cx="2194560" cy="40233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37760" y="1371600"/>
            <a:ext cx="2194560" cy="475488"/>
          </a:xfrm>
          <a:prstGeom prst="rect">
            <a:avLst/>
          </a:prstGeom>
          <a:solidFill>
            <a:srgbClr val="0A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141732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GDPR 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19659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Art.15 accès · Art.17 effacement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24231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Art.33 violation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28803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Complète nos auditLogs applicatifs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33375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Conformité infrastructure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1371600"/>
            <a:ext cx="2194560" cy="4023360"/>
          </a:xfrm>
          <a:prstGeom prst="rect">
            <a:avLst/>
          </a:prstGeom>
          <a:solidFill>
            <a:srgbClr val="1A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69480" y="1371600"/>
            <a:ext cx="2194560" cy="475488"/>
          </a:xfrm>
          <a:prstGeom prst="rect">
            <a:avLst/>
          </a:prstGeom>
          <a:solidFill>
            <a:srgbClr val="0A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69480" y="141732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Integrity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2" y="19659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2 500+ events · /bin/bash modifié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2632" y="24231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Alerte rootkit ou backdoor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2" y="28803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Équivalent IDS filesystem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2632" y="33375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Hash SHA-256 en temps réel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1371600"/>
            <a:ext cx="2194560" cy="4023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01200" y="1371600"/>
            <a:ext cx="2194560" cy="475488"/>
          </a:xfrm>
          <a:prstGeom prst="rect">
            <a:avLst/>
          </a:prstGeom>
          <a:solidFill>
            <a:srgbClr val="0A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0" y="141732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Vulnerabilities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4352" y="19659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17 CVE · 8 High + 9 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24231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CVE-2019-5736 CVSS3=8.6 → P1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28803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Docker dominant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337560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▸  Scan packages vs NVD NIST auto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577840"/>
            <a:ext cx="11640312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5614416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 modules combinés : Menaces + RGPD + CVE + FIM + Journalisation — CDC §3.3 Couvert à 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92240"/>
            <a:ext cx="11612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 err="1">
                <a:solidFill>
                  <a:schemeClr val="bg1"/>
                </a:solidFill>
              </a:rPr>
              <a:t>Wazuh</a:t>
            </a:r>
            <a:r>
              <a:rPr lang="fr-MA" sz="1050" dirty="0">
                <a:solidFill>
                  <a:schemeClr val="bg1"/>
                </a:solidFill>
              </a:rPr>
              <a:t> couvre les événements, vulnérabilités, intégrité des fichiers, conformité et détection d’attaques.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DÉFENSE EN PROFONDEUR — 2 Couches — CDC §3.3 à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17 / 20  —  Defense in 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23560" cy="4389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23560" cy="47548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0817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COUCHE 1 — APPLICATIVE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105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A5F5"/>
                </a:solidFill>
                <a:latin typeface="Calibri"/>
              </a:rPr>
              <a:t>auditLogs Firestore + /monitoring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WAF — SQLi · XSS · PathTraversal · CmdInj · Agents suspects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06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9 types audit logs immuables Firestore (append-only)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632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Score /100 temps réel + 4 alertes automatiques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520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Scanner DAST 12 tests OWASP — Score 92/100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776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Dashboard SIEM 3 onglets (admin only · 60s refresh)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34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RGPD Art.15/16/17/33 · AES-256-CBC · HTTPS/HSTS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371600"/>
            <a:ext cx="5806440" cy="4389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80760" y="1371600"/>
            <a:ext cx="5806440" cy="47548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1408176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COUCHE 2 —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81051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A5F5"/>
                </a:solidFill>
                <a:latin typeface="Calibri"/>
              </a:rPr>
              <a:t>Wazuh SIEM Agent actif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1488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Agent 001 actif — coverage 100% (Debian 12)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6060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213 événements détectés en &lt; 24h sans config extra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0632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CIS Benchmark Debian 12 — audit 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5204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Module MITRE ATT&amp;CK — T1499/T1562 classifiés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9776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Module GDPR — Art.15/17/33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4348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Vulnerability Detection — 17 CVE/CVSS détectées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29184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2A5F5"/>
                </a:solidFill>
                <a:latin typeface="Calibri"/>
              </a:rPr>
              <a:t>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897880"/>
            <a:ext cx="11612880" cy="53035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5943600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→  CDC §3.3 couvert à 100% : Accès sécurisé (RBAC) · Conformité RGPD · Journalisation · HTTPS ·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11612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Nous combinons sécurité applicative et infrastructure pour garantir une protection complète à plusieurs niveaux.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SYNTHÈSE — Couverture CDC §3.3 à 100% — 8/8 Exigences FAITES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18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935224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0896" y="1389888"/>
            <a:ext cx="2898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EXIGENCE CDC §3.3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512064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28416" y="1389888"/>
            <a:ext cx="475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Réf.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371600"/>
            <a:ext cx="5541264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22776" y="1389888"/>
            <a:ext cx="5504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IMPLÉMENTATION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1371600"/>
            <a:ext cx="1152144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46336" y="1389888"/>
            <a:ext cx="1115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Module Wazuh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44200" y="1371600"/>
            <a:ext cx="1060704" cy="384048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0776" y="1389888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STATUT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01368"/>
            <a:ext cx="293522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1801368"/>
            <a:ext cx="51206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86200" y="1801368"/>
            <a:ext cx="554126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09760" y="1801368"/>
            <a:ext cx="115214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744200" y="1801368"/>
            <a:ext cx="106070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0896" y="1865376"/>
            <a:ext cx="28986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Accès sécurisé id/mdp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1865376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2A5F5"/>
                </a:solidFill>
                <a:latin typeface="Calibri"/>
              </a:rPr>
              <a:t>1·2·3·5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2776" y="1865376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JWT HS256 · bcrypt 12r · WAF · rate limit · lockout 5 échecs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1865376"/>
            <a:ext cx="1115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A5F5"/>
                </a:solidFill>
                <a:latin typeface="Calibri"/>
              </a:rPr>
              <a:t>Security Events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35640" y="1892808"/>
            <a:ext cx="914400" cy="32918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60" y="19293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FAIT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359152"/>
            <a:ext cx="293522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91840" y="2359152"/>
            <a:ext cx="51206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86200" y="2359152"/>
            <a:ext cx="554126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509760" y="2359152"/>
            <a:ext cx="115214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744200" y="2359152"/>
            <a:ext cx="106070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0896" y="2423160"/>
            <a:ext cx="28986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HTTPS obligatoire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8416" y="242316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2A5F5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2776" y="2423160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Firebase HTTPS auto · Helmet HSTS max-age=31536000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46336" y="2423160"/>
            <a:ext cx="1115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A5F5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35640" y="2450592"/>
            <a:ext cx="914400" cy="32918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881360" y="24871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FAIT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916936"/>
            <a:ext cx="293522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91840" y="2916936"/>
            <a:ext cx="51206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886200" y="2916936"/>
            <a:ext cx="554126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509760" y="2916936"/>
            <a:ext cx="115214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744200" y="2916936"/>
            <a:ext cx="106070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10896" y="2980944"/>
            <a:ext cx="28986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RGPD conforme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28416" y="2980944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2A5F5"/>
                </a:solidFill>
                <a:latin typeface="Calibri"/>
              </a:rPr>
              <a:t>5·6·8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22776" y="2980944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DATA_EXPORT · DATA_ANONYMIZE · AES-256 · Art.15/16/17/33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46336" y="2980944"/>
            <a:ext cx="1115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A5F5"/>
                </a:solidFill>
                <a:latin typeface="Calibri"/>
              </a:rPr>
              <a:t>Module GDPR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35640" y="3008376"/>
            <a:ext cx="914400" cy="32918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81360" y="30449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FAIT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474720"/>
            <a:ext cx="293522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91840" y="3474720"/>
            <a:ext cx="51206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886200" y="3474720"/>
            <a:ext cx="554126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509760" y="3474720"/>
            <a:ext cx="115214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744200" y="3474720"/>
            <a:ext cx="106070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10896" y="3538728"/>
            <a:ext cx="28986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RBAC — Gestion rôles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8416" y="3538728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2A5F5"/>
                </a:solidFill>
                <a:latin typeface="Calibri"/>
              </a:rPr>
              <a:t>5·6·8·9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22776" y="3538728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checkRole() Firestore · 4 rôles · Firestore Rules deny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46336" y="3538728"/>
            <a:ext cx="1115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A5F5"/>
                </a:solidFill>
                <a:latin typeface="Calibri"/>
              </a:rPr>
              <a:t>Security Events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35640" y="3566160"/>
            <a:ext cx="914400" cy="32918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881360" y="360273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FAIT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032504"/>
            <a:ext cx="293522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291840" y="4032504"/>
            <a:ext cx="51206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886200" y="4032504"/>
            <a:ext cx="554126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509760" y="4032504"/>
            <a:ext cx="115214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744200" y="4032504"/>
            <a:ext cx="106070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10896" y="4096512"/>
            <a:ext cx="28986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Journalisation actions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28416" y="4096512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2A5F5"/>
                </a:solidFill>
                <a:latin typeface="Calibri"/>
              </a:rPr>
              <a:t>6·7·8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22776" y="4096512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9 events immuables · SIEM dashboard · serverTimestamp()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46336" y="4096512"/>
            <a:ext cx="1115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A5F5"/>
                </a:solidFill>
                <a:latin typeface="Calibri"/>
              </a:rPr>
              <a:t>213+ events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835640" y="4123944"/>
            <a:ext cx="914400" cy="32918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881360" y="41605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FAIT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590288"/>
            <a:ext cx="293522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291840" y="4590288"/>
            <a:ext cx="51206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886200" y="4590288"/>
            <a:ext cx="554126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509760" y="4590288"/>
            <a:ext cx="115214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744200" y="4590288"/>
            <a:ext cx="106070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10896" y="4654296"/>
            <a:ext cx="28986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Détection vulnérabilités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28416" y="4654296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2A5F5"/>
                </a:solidFill>
                <a:latin typeface="Calibri"/>
              </a:rPr>
              <a:t>Wazuh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22776" y="4654296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17 CVE identifiées · Plan correctif prioritisé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46336" y="4654296"/>
            <a:ext cx="1115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A5F5"/>
                </a:solidFill>
                <a:latin typeface="Calibri"/>
              </a:rPr>
              <a:t>Vuln Detector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835640" y="4681728"/>
            <a:ext cx="914400" cy="32918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881360" y="47183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FAIT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5148072"/>
            <a:ext cx="293522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291840" y="5148072"/>
            <a:ext cx="51206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3886200" y="5148072"/>
            <a:ext cx="554126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509760" y="5148072"/>
            <a:ext cx="115214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744200" y="5148072"/>
            <a:ext cx="1060704" cy="521207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10896" y="5212080"/>
            <a:ext cx="28986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Intégrité fichiers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28416" y="521208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2A5F5"/>
                </a:solidFill>
                <a:latin typeface="Calibri"/>
              </a:rPr>
              <a:t>Wazuh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22776" y="5212080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FIM 2500+ · Rule 550 · Hash SHA-256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46336" y="5212080"/>
            <a:ext cx="1115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A5F5"/>
                </a:solidFill>
                <a:latin typeface="Calibri"/>
              </a:rPr>
              <a:t>Integrity Mon.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835640" y="5239512"/>
            <a:ext cx="914400" cy="32918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881360" y="527608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FAIT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5705856"/>
            <a:ext cx="293522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3291840" y="5705856"/>
            <a:ext cx="51206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3886200" y="5705856"/>
            <a:ext cx="554126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9509760" y="5705856"/>
            <a:ext cx="115214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0744200" y="5705856"/>
            <a:ext cx="1060704" cy="521207"/>
          </a:xfrm>
          <a:prstGeom prst="rect">
            <a:avLst/>
          </a:prstGeom>
          <a:solidFill>
            <a:srgbClr val="1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10896" y="5769864"/>
            <a:ext cx="28986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Détection menaces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28416" y="5769864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2A5F5"/>
                </a:solidFill>
                <a:latin typeface="Calibri"/>
              </a:rPr>
              <a:t>Wazuh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22776" y="5769864"/>
            <a:ext cx="5504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MITRE ATT&amp;CK T1499/T1562 · 1600+ alertes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46336" y="5769864"/>
            <a:ext cx="1115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A5F5"/>
                </a:solidFill>
                <a:latin typeface="Calibri"/>
              </a:rPr>
              <a:t>MITRE ATT&amp;CK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835640" y="5797296"/>
            <a:ext cx="914400" cy="32918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881360" y="58338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FAIT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4320" y="6492240"/>
            <a:ext cx="11612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050" dirty="0">
                <a:solidFill>
                  <a:schemeClr val="bg1"/>
                </a:solidFill>
              </a:rPr>
              <a:t>Toutes les exigences de sécurité du cahier des charges sont entièrement respectées et validées.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RÉCAPITULATIF KPI — Chiffres Clés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A5F5"/>
                </a:solidFill>
                <a:latin typeface="Calibri"/>
              </a:rPr>
              <a:t>19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651760" cy="1188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436 420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Security Events Wazuh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0672" y="1417320"/>
            <a:ext cx="2651760" cy="1188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0672" y="1508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100/100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Score Dashboard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7024" y="1417320"/>
            <a:ext cx="2651760" cy="1188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07024" y="1508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92/100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7024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Score DAST (12 tests)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23376" y="1417320"/>
            <a:ext cx="2651760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42626" y="1508760"/>
            <a:ext cx="26517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17 CVE</a:t>
            </a:r>
            <a:r>
              <a:rPr lang="fr-FR" sz="1400" b="1" i="0" dirty="0">
                <a:solidFill>
                  <a:srgbClr val="FFFFFF"/>
                </a:solidFill>
                <a:latin typeface="Calibri"/>
              </a:rPr>
              <a:t> (COMMON VULNERABILITIES AND EXPOSURES 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23376" y="2227045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alibri"/>
              </a:rPr>
              <a:t>8 High + 9 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43200"/>
            <a:ext cx="2651760" cy="1188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28346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8/8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474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Exigences CDC §3.3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90672" y="2743200"/>
            <a:ext cx="2651760" cy="11887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90672" y="28346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3474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Types AuditLogs immuables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07024" y="2743200"/>
            <a:ext cx="2651760" cy="1188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07024" y="28346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7024" y="3474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Catégories OWASP vérifiées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23376" y="2743200"/>
            <a:ext cx="2651760" cy="1188720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23376" y="28346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3376" y="3474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Articles RGPD couverts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69080"/>
            <a:ext cx="2651760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4160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800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Rôles RBAC moindre privilège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90672" y="4069080"/>
            <a:ext cx="2651760" cy="1188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90672" y="4160520"/>
            <a:ext cx="2651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12r</a:t>
            </a:r>
            <a:r>
              <a:rPr lang="fr-FR" sz="1400" b="1" i="0" dirty="0">
                <a:solidFill>
                  <a:srgbClr val="FFFFFF"/>
                </a:solidFill>
                <a:latin typeface="Calibri"/>
              </a:rPr>
              <a:t> 12 Piliers ou </a:t>
            </a:r>
            <a:r>
              <a:rPr lang="fr-FR" sz="1400" b="1" i="0" dirty="0" err="1">
                <a:solidFill>
                  <a:srgbClr val="FFFFFF"/>
                </a:solidFill>
                <a:latin typeface="Calibri"/>
              </a:rPr>
              <a:t>régles</a:t>
            </a:r>
            <a:r>
              <a:rPr lang="fr-FR" sz="1400" b="1" i="0" dirty="0">
                <a:solidFill>
                  <a:srgbClr val="FFFFFF"/>
                </a:solidFill>
                <a:latin typeface="Calibri"/>
              </a:rPr>
              <a:t> essentielles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90672" y="4800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bcrypt rounds anti-brute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07024" y="4069080"/>
            <a:ext cx="2651760" cy="1188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07024" y="4160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  <a:latin typeface="Calibri"/>
              </a:rPr>
              <a:t>AES-256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7024" y="4800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Chiffrement données sensibles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23376" y="4069080"/>
            <a:ext cx="2651760" cy="1188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23376" y="4160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4800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Agents Wazuh coverage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760720"/>
            <a:ext cx="11640312" cy="6583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5815584"/>
            <a:ext cx="11338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050" dirty="0">
                <a:solidFill>
                  <a:schemeClr val="bg1"/>
                </a:solidFill>
              </a:rPr>
              <a:t>Les indicateurs montrent une application sécurisée, surveillée et conforme aux standards.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PFE CYBERSÉCURITÉ / CYBERDÉFENSE — YNOV Campus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85313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2A5F5"/>
                </a:solidFill>
                <a:latin typeface="Calibri"/>
              </a:rPr>
              <a:t>Questions &amp; Démonstration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154680"/>
            <a:ext cx="9994392" cy="1508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3218688"/>
            <a:ext cx="9628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"Le monitoring couvre intégralement le CDC §3.3 sur deux niveaux :
monitoring applicatif (WAF · 9 audit logs Firestore · dashboard SIEM · DAST 12 tests)
et monitoring infrastructure Wazuh (213 événements · MITRE ATT&amp;CK · GDPR · CIS Benchmark).
Ensemble, ils assurent une défense en profondeur conforme RGPD."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Amine BAHOU  /  Anass Akker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2A5F5"/>
                </a:solidFill>
                <a:latin typeface="Calibri"/>
              </a:rPr>
              <a:t>PFE Bachelor Cybersécurité / Cyberdéfense — YNOV Campus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943600"/>
            <a:ext cx="11640312" cy="530352"/>
          </a:xfrm>
          <a:prstGeom prst="rect">
            <a:avLst/>
          </a:prstGeom>
          <a:solidFill>
            <a:srgbClr val="145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5989320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OWASP Top 10  ·  RGPD UE 2016/679  ·  CDC §3.3 100%  ·  Wazuh 4.7.4  ·  JWT HS256  ·  AES-256-CBC  ·  Defense in Depth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2361</TotalTime>
  <Words>3049</Words>
  <Application>Microsoft Macintosh PowerPoint</Application>
  <PresentationFormat>Personnalisé</PresentationFormat>
  <Paragraphs>527</Paragraphs>
  <Slides>21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AKKER Anass</cp:lastModifiedBy>
  <cp:revision>37</cp:revision>
  <dcterms:created xsi:type="dcterms:W3CDTF">2013-01-27T09:14:16Z</dcterms:created>
  <dcterms:modified xsi:type="dcterms:W3CDTF">2026-04-25T09:07:11Z</dcterms:modified>
  <cp:category/>
</cp:coreProperties>
</file>