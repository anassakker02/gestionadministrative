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25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24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6E338-AD6F-A44C-99C2-81D4D4211ED3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8B5A1-A255-954F-9806-6EBC2705A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37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B5A1-A255-954F-9806-6EBC2705A3F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10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PFE CYBERSÉCURITÉ / CYBERDÉFENSE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SÉCURITÉ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FF"/>
                </a:solidFill>
                <a:latin typeface="Calibri"/>
              </a:rPr>
              <a:t>Application Web — Gestion Scolaire YNOV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9BB"/>
                </a:solidFill>
                <a:latin typeface="Calibri"/>
              </a:rPr>
              <a:t>Phase 3 — Post-Production · WAF · SIEM · DAST · Wazuh 4.7.4 · CDC §3.3 à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788920"/>
            <a:ext cx="2194560" cy="36576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OWASP Top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788920"/>
            <a:ext cx="2194560" cy="36576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RGPD UE 2016/679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788920"/>
            <a:ext cx="2194560" cy="36576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CDC §3.3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88920"/>
            <a:ext cx="2194560" cy="36576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Wazuh 4.7.4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37560"/>
            <a:ext cx="1755648" cy="7498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Catégories OWASP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337560"/>
            <a:ext cx="1755648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Articles RGPD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337560"/>
            <a:ext cx="1755648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Tests DAST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337560"/>
            <a:ext cx="1755648" cy="7498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2 500+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FIM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337560"/>
            <a:ext cx="1755648" cy="749808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CVE Détectées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3337560"/>
            <a:ext cx="1755648" cy="7498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1 600+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Amine BAHOU / Anass Akker  —  YNOV Campus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02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Audit OWASP Top 10 (2021) — 10 Catégories Vérifiées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163824" cy="34747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70432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CATÉGORIE OWASP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97280"/>
            <a:ext cx="4992624" cy="34747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17043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IMPLÉMENTATION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97280"/>
            <a:ext cx="1335024" cy="34747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7072" y="117043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STATUT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31638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51790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A01 — Broken Access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463040"/>
            <a:ext cx="49926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151790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RBAC · checkRole() · Firestore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463040"/>
            <a:ext cx="13350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7072" y="151790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28800"/>
            <a:ext cx="31638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188366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A02 — Cryptographic Failures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828800"/>
            <a:ext cx="49926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18836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AES-256-CBC · HTTPS · bcrypt 12 rounds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28800"/>
            <a:ext cx="13350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77072" y="18836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94560"/>
            <a:ext cx="31638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224942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A03 — Injection SQLi·XSS·Cmd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194560"/>
            <a:ext cx="49926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224942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WAF waf.js → HTTP 403 + WAF_BLOCK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194560"/>
            <a:ext cx="13350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77072" y="22494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60320"/>
            <a:ext cx="31638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261518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A04 — Insecure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560320"/>
            <a:ext cx="49926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47872" y="261518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Architecture JWT + RBAC dès la conception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560320"/>
            <a:ext cx="13350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77072" y="26151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26080"/>
            <a:ext cx="31638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" y="29809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A05 — Security Misconfiguration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926080"/>
            <a:ext cx="49926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47872" y="298094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Helmet · CORS strict · Headers HTTP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926080"/>
            <a:ext cx="13350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77072" y="29809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291840"/>
            <a:ext cx="31638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" y="334670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A06 — Vulnerable Components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291840"/>
            <a:ext cx="49926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47872" y="334670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Wazuh Vulnerability Detection — 17 CVE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3291840"/>
            <a:ext cx="13350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77072" y="334670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SURVEILLÉ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57600"/>
            <a:ext cx="31638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371246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A07 — Auth &amp; Session Failures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657600"/>
            <a:ext cx="49926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47872" y="37124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Rate limiting · lockout 5 échecs · JWT 24h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657600"/>
            <a:ext cx="13350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77072" y="37124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23360"/>
            <a:ext cx="31638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7472" y="407822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A08 — Data Integrity Failures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4023360"/>
            <a:ext cx="49926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47872" y="407822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auditLogs immuables · JWT signé HS256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4023360"/>
            <a:ext cx="13350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77072" y="40782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389120"/>
            <a:ext cx="31638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7472" y="444398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A09 — Security Logging Failures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389120"/>
            <a:ext cx="49926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47872" y="444398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9 types audit logs Firestore · SIEM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4389120"/>
            <a:ext cx="1335024" cy="33832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77072" y="4443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CORRIGÉ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31638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7472" y="48097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A10 — SSRF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4754880"/>
            <a:ext cx="49926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547872" y="480974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Non applicable — pas d'appels serveur↔serveur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20" y="4754880"/>
            <a:ext cx="1335024" cy="338328"/>
          </a:xfrm>
          <a:prstGeom prst="rect">
            <a:avLst/>
          </a:prstGeom>
          <a:solidFill>
            <a:srgbClr val="1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577072" y="48097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8 CORRIGÉES · 1 SURVEILLÉE par Wazuh · 1 N/A — Toutes failles critiques couvertes.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SÉCURITÉ APPLICATIVE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03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WAF waf.js — 5 Vecteurs OWASP Bloqués · Première Ligne de Défense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52374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61872"/>
            <a:ext cx="2423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Injection 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188720"/>
            <a:ext cx="106070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07792" y="1261872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CRITIQUE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88720"/>
            <a:ext cx="682142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05072" y="1261872"/>
            <a:ext cx="6720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  <a:latin typeface="Calibri"/>
              </a:rPr>
              <a:t>SELECT/UNION/DROP/OR 1=1 → HTTP 403 + WAF_BLOCK loggué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2523744" cy="43891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737360"/>
            <a:ext cx="2423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XSS Cross-Site Scripting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664208"/>
            <a:ext cx="1060704" cy="43891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7792" y="1737360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HAUTE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664208"/>
            <a:ext cx="6821424" cy="43891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05072" y="1737360"/>
            <a:ext cx="6720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  <a:latin typeface="Calibri"/>
              </a:rPr>
              <a:t>&lt;script&gt; · eval() · onerror= → HTTP 403 · CSP default-src 'self'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39696"/>
            <a:ext cx="252374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212848"/>
            <a:ext cx="2423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Path Traversal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139696"/>
            <a:ext cx="106070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07792" y="2212848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HAUTE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139696"/>
            <a:ext cx="682142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05072" y="2212848"/>
            <a:ext cx="6720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  <a:latin typeface="Calibri"/>
              </a:rPr>
              <a:t>../../ · %2e%2e · /etc/passwd → HTTP 403 + WAF_BLOCK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15184"/>
            <a:ext cx="2523744" cy="43891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2688336"/>
            <a:ext cx="2423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Command Injection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615184"/>
            <a:ext cx="1060704" cy="43891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07792" y="2688336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HAUTE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615184"/>
            <a:ext cx="6821424" cy="43891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05072" y="2688336"/>
            <a:ext cx="6720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  <a:latin typeface="Calibri"/>
              </a:rPr>
              <a:t>; &amp;&amp; | $() → HTTP 403 + WAF_BLOCK loggué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90672"/>
            <a:ext cx="252374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163824"/>
            <a:ext cx="2423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Scanners suspects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090672"/>
            <a:ext cx="106070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07792" y="316382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HAUTE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090672"/>
            <a:ext cx="6821424" cy="43891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05072" y="3163824"/>
            <a:ext cx="6720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  <a:latin typeface="Calibri"/>
              </a:rPr>
              <a:t>sqlmap/nikto/nmap User-Agent → HTTP 403 bloqué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11612880" cy="502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F7F"/>
                </a:solidFill>
                <a:latin typeface="Courier New"/>
              </a:rPr>
              <a:t># SQLi bloqué → curl '...?id=1 OR 1=1'  →  HTTP 403  |  XSS → curl '...?nom=&lt;script&gt;alert(1)&lt;/script&gt;'  →  HTTP 403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251960"/>
            <a:ext cx="11612880" cy="822960"/>
          </a:xfrm>
          <a:prstGeom prst="rect">
            <a:avLst/>
          </a:prstGeom>
          <a:solidFill>
            <a:srgbClr val="0F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BRUTE FORCE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526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AA"/>
                </a:solidFill>
                <a:latin typeface="Calibri"/>
              </a:rPr>
              <a:t>Rate limit 10 req/15min · 5 échecs → AUTH_LOCKOUT Firestore → HTTP 429 · Payload max 10 KB → HTTP 413 · Timeout 28s → HTTP 503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WAF appliqué avant même l'authentification — première ligne de défense. Toutes vulnérabilités CRITIQUES et HAUTES corrigées.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CDC §3.3 —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RBAC — Gestion des Accès par Rôle — Moindre Privilège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651760" cy="2560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AADD"/>
                </a:solidFill>
                <a:latin typeface="Calibri"/>
              </a:rPr>
              <a:t>Accès complet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56231"/>
            <a:ext cx="265176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21991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9463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toutes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16935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7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exports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sous-admin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600200"/>
            <a:ext cx="2651760" cy="2560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AADD"/>
                </a:solidFill>
                <a:latin typeface="Calibri"/>
              </a:rPr>
              <a:t>Gestion opérationnelle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856231"/>
            <a:ext cx="265176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1874519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étudiants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221991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569463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paiements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916935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factures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264407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rapports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188720"/>
            <a:ext cx="265176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600200"/>
            <a:ext cx="2651760" cy="2560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AADD"/>
                </a:solidFill>
                <a:latin typeface="Calibri"/>
              </a:rPr>
              <a:t>Finance uniquement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856231"/>
            <a:ext cx="2651760" cy="104241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1874519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lecture paiements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221991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génération factures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569463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exports uniquement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188720"/>
            <a:ext cx="265176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0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étudiant / parent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600200"/>
            <a:ext cx="2651760" cy="2560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AADD"/>
                </a:solidFill>
                <a:latin typeface="Calibri"/>
              </a:rPr>
              <a:t>Portail personnel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1856231"/>
            <a:ext cx="2651760" cy="104241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1874519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propres données uniquement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221991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lecture seule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569463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▸ pas d'admin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20640"/>
            <a:ext cx="11612880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1480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FF"/>
                </a:solidFill>
                <a:latin typeface="Calibri"/>
              </a:rPr>
              <a:t>Implémentation : checkRole(['admin','sous-admin']) sur chaque route · Re-lecture rôle Firestore à CHAQUE requête (jamais depuis JWT uniquement)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RBAC vérifie les rôles en temps réel. Si rôle révoqué → bloqué immédiatement à la prochaine requête.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CDC §3.3 — CONFORMITÉ RGPD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Conformité RGPD (UE 2016/679) — 6 Articles Implémentés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14173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56616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Art. 15 — Droit d'accès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Export données personnelles
DATA_EXPORT loggué · GET /users/:id/export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1234440"/>
            <a:ext cx="3566160" cy="14173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50208" y="1234440"/>
            <a:ext cx="356616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128016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Art. 16 — Rectification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58191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Modification données
CRUD loggué avec serverTimestamp()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6096" y="1234440"/>
            <a:ext cx="3566160" cy="14173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6096" y="1234440"/>
            <a:ext cx="356616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128016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Art. 17 — Droit à l'effacement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158191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Anonymisation DATA_ANONYMIZE
champs remplacés · log conservé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43200"/>
            <a:ext cx="3566160" cy="14173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356616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7889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Art. 25 — Privacy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09067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AES-256-CBC · HTTPS · RBAC
principe du moindre privilège dès conception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0208" y="2743200"/>
            <a:ext cx="3566160" cy="14173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50208" y="2743200"/>
            <a:ext cx="356616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41648" y="27889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Art. 32 — Sécurité du traitement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309067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WAF + JWT HS256 + bcrypt 12 rounds
rate limiting + HTTPS/HSTS max-age=31536000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2743200"/>
            <a:ext cx="3566160" cy="14173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26096" y="2743200"/>
            <a:ext cx="356616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17536" y="27889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Art. 33 — Notification violation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09067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Alerte CRITIQUE auditLogs
Procédure 72h documentée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Privacy by Design (Art.25) dès la conception. Procédure 72h (Art.33) automatisée via le dashboard /monitoring.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CDC §3.3 — JOURNALISATION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 Audit Logs Immuables + Security Headers JWT + bcrypt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37744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AUTH_SUCCESS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88720"/>
            <a:ext cx="118872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80" y="124358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INFO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88720"/>
            <a:ext cx="777240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1243584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IP + horodatage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45336"/>
            <a:ext cx="237744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600200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AUTH_FAILURE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545336"/>
            <a:ext cx="118872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60020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  <a:latin typeface="Calibri"/>
              </a:rPr>
              <a:t>WARNING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545336"/>
            <a:ext cx="777240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1600200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IP + tentative n°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01952"/>
            <a:ext cx="237744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1956816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AUTH_LOCKOUT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1901952"/>
            <a:ext cx="118872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97480" y="195681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Calibri"/>
              </a:rPr>
              <a:t>CRITIQUE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901952"/>
            <a:ext cx="777240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IP + durée blocage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58568"/>
            <a:ext cx="237744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313432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LOGOUT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258568"/>
            <a:ext cx="118872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231343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INFO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258568"/>
            <a:ext cx="777240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23360" y="2313432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durée 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615184"/>
            <a:ext cx="237744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2670048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SESSION_EXPIRED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2615184"/>
            <a:ext cx="118872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97480" y="267004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INFO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615184"/>
            <a:ext cx="777240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23360" y="2670048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last_activity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71800"/>
            <a:ext cx="237744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026664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ACCESS_DENIED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2971800"/>
            <a:ext cx="118872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80" y="302666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  <a:latin typeface="Calibri"/>
              </a:rPr>
              <a:t>WARNING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2971800"/>
            <a:ext cx="777240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23360" y="3026664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route + rôle tenté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328416"/>
            <a:ext cx="237744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3383280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DATA_EXPORT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3328416"/>
            <a:ext cx="118872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97480" y="338328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INFO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328416"/>
            <a:ext cx="777240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23360" y="3383280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données exportées — Art.15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85032"/>
            <a:ext cx="237744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739896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DATA_ANONYMIZE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3685032"/>
            <a:ext cx="118872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97480" y="373989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  <a:latin typeface="Calibri"/>
              </a:rPr>
              <a:t>WARNING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20" y="3685032"/>
            <a:ext cx="7772400" cy="329184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23360" y="3739896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userId + champs anonymisés — Art.17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41648"/>
            <a:ext cx="237744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4096512"/>
            <a:ext cx="2286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CCFF"/>
                </a:solidFill>
                <a:latin typeface="Courier New"/>
              </a:rPr>
              <a:t>WAF_BLOCK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4041648"/>
            <a:ext cx="118872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97480" y="409651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Calibri"/>
              </a:rPr>
              <a:t>CRITIQUE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4041648"/>
            <a:ext cx="7772400" cy="32918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023360" y="4096512"/>
            <a:ext cx="7680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IP + type attaque + payload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526280"/>
            <a:ext cx="11612880" cy="384048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553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Calibri"/>
              </a:rPr>
              <a:t>Firestore Rules : allow update: if false · allow delete: if false  →  LOGS IMMUABLES · serverTimestamp() non manipulable côté client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029200"/>
            <a:ext cx="5029200" cy="100584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1480" y="50566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CCFF"/>
                </a:solidFill>
                <a:latin typeface="Calibri"/>
              </a:rPr>
              <a:t>Security Headers (Helmet.js) · JWT HS256 · bcrypt 12r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532180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CC"/>
                </a:solidFill>
                <a:latin typeface="Calibri"/>
              </a:rPr>
              <a:t>HSTS max-age=31536000 · X-Frame DENY · CSP default-src 'self' · JWT exp:24h · bcrypt 12 rounds · AES-256-CBC données sensibles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5029200"/>
            <a:ext cx="6446520" cy="100584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77840" y="505663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Scanner DAST — 12 Tests OWASP — Score 92/100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5321808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AA"/>
                </a:solidFill>
                <a:latin typeface="Calibri"/>
              </a:rPr>
              <a:t>node scripts/security_scan.js → 11/12 PASS (SQLi 403 ✓ · XSS 403 ✓ · Path 403 ✓ · Rate 429 ✓ · RBAC ✓ · /monitoring admin ✓) · 1 warning CORS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Logs infalsifiables — serverTimestamp() côté serveur. DAST automatisé intégrable CI/CD. Score 92/100.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ARCHITECTURE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Pipeline de Sécurité — 8 Couches — De la Requête à l'Alerte SIEM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46634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WAF (waf.js)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18872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28016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SQLi · XSS · PathTraversal · CmdInj · Agents suspects → HTTP 403 + WAF_BLOCK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8191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2743200" cy="46634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Rate Limiter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69164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178308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100 req/15min global · 5 échecs → AUTH_LOCKOUT → HTTP 429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0848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94560"/>
            <a:ext cx="2743200" cy="466344"/>
          </a:xfrm>
          <a:prstGeom prst="rect">
            <a:avLst/>
          </a:prstGeom>
          <a:solidFill>
            <a:srgbClr val="E6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28600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verifyJWT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9456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54680" y="228600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JWT HS256 · expiration 24h · signature → HTTP 401 si invalide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5877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97480"/>
            <a:ext cx="2743200" cy="4663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checkRole() Firestore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9748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54680" y="278892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Re-lecture rôle BDD à chaque requête → HTTP 403 + ACCESS_DENIED si insuffisant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0906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00400"/>
            <a:ext cx="2743200" cy="4663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29184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Route Handler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20040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29184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Traitement métier sécurisé → Réponse applicative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93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03320"/>
            <a:ext cx="2743200" cy="466344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79476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auditLogger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70332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54680" y="379476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9 types events · Firestore immuable · serverTimestamp()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09651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06240"/>
            <a:ext cx="2743200" cy="466344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29768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Dashboard /monitoring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20624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54680" y="429768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Score /100 · WAF stats · SIEM logs · 4 alertes auto · 60s refresh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5994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709160"/>
            <a:ext cx="2743200" cy="46634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480060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Wazuh SIEM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709160"/>
            <a:ext cx="8823960" cy="46634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54680" y="4800600"/>
            <a:ext cx="8686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CIS Benchmark · MITRE ATT&amp;CK · FIM · CVE · GDPR · Agent actif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1023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Chaque requête filtrée par 4 couches avant d'accéder aux données. Toutes les actions loggées et analysées via Wazuh.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PARTIE 2 — MONITORING APPLICATIF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Dashboard /monitoring — Score 100 / 100 — Accès Sécurisé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402336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527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Score calculé sur 24h : authFailures + lockouts + accessDenied + wafBlocks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55064"/>
            <a:ext cx="4754880" cy="402336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673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JWT HS256 forcé · bcrypt saltRounds=10 · Rate limit 10 req/15min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75688"/>
            <a:ext cx="4754880" cy="402336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0939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Timeout inactivité 30 min · Anti-énumération activé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96312"/>
            <a:ext cx="4754880" cy="402336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25146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Alertes auto : &gt;20 auth failures → CRITIQUE · &gt;5 lockouts → CRITIQUE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16936"/>
            <a:ext cx="4754880" cy="402336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9352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&gt;10 WAF blocks → CRITIQUE · Refresh automatique 60s</a:t>
            </a:r>
          </a:p>
        </p:txBody>
      </p:sp>
      <p:pic>
        <p:nvPicPr>
          <p:cNvPr id="17" name="Picture 16" descr="brave_screenshot_localhost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07008"/>
            <a:ext cx="6858000" cy="4846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Score 100/100 = aucun incident dans les 24 dernières heures. Diminue en cas d'attaques ou d'échecs d'authentification.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MONITORING APPLICATIF — WAF · SIEM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09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Dashboard WAF OWASP Top 10 · SIEM Logs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27432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WAF — OWASP Top 10 Actif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486400" cy="356616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  <a:latin typeface="Calibri"/>
              </a:rPr>
              <a:t>A03 SQLi : SELECT/UNION/DROP → HTTP 403 + WAF_BLOCK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38528"/>
            <a:ext cx="5486400" cy="356616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965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  <a:latin typeface="Calibri"/>
              </a:rPr>
              <a:t>A03 XSS : &lt;script&gt;/onerror=/eval() → HTTP 403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22576"/>
            <a:ext cx="5486400" cy="356616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3500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  <a:latin typeface="Calibri"/>
              </a:rPr>
              <a:t>A01 LFI : ../../ / %2e%2e → HTTP 403 + WAF_BLOCK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06624"/>
            <a:ext cx="5486400" cy="356616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734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  <a:latin typeface="Calibri"/>
              </a:rPr>
              <a:t>Cmd Inj : ; &amp;&amp; | $() → HTTP 403 + WAF_BLOCK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90672"/>
            <a:ext cx="5486400" cy="356616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1181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  <a:latin typeface="Calibri"/>
              </a:rPr>
              <a:t>Scanners : sqlmap/nikto/nmap → HTTP 403 bloqué</a:t>
            </a:r>
          </a:p>
        </p:txBody>
      </p:sp>
      <p:pic>
        <p:nvPicPr>
          <p:cNvPr id="19" name="Picture 18" descr="brave_screenshot_localhos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486400" cy="24688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0" y="1234440"/>
            <a:ext cx="594360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125272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SIEM Logs — Audit Trail Complet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554480"/>
            <a:ext cx="5943600" cy="356616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15819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Colonnes : IP · email · rôle · chemin · action · horodatage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938528"/>
            <a:ext cx="5943600" cy="356616"/>
          </a:xfrm>
          <a:prstGeom prst="rect">
            <a:avLst/>
          </a:prstGeom>
          <a:solidFill>
            <a:srgbClr val="0D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1965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Source : Collection Firestore auditLogs — 24h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322576"/>
            <a:ext cx="5943600" cy="356616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3500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Admin only : &lt;ProtectedRoute roles={['admin']}&gt;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06624"/>
            <a:ext cx="5943600" cy="356616"/>
          </a:xfrm>
          <a:prstGeom prst="rect">
            <a:avLst/>
          </a:prstGeom>
          <a:solidFill>
            <a:srgbClr val="0D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73405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 events = surveillance normale — aucune anomalie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090672"/>
            <a:ext cx="5943600" cy="356616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0" y="311810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Boîtier noir infalsifiable : allow update/delete: if false</a:t>
            </a:r>
          </a:p>
        </p:txBody>
      </p:sp>
      <p:pic>
        <p:nvPicPr>
          <p:cNvPr id="32" name="Picture 31" descr="brave_screenshot_localh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520440"/>
            <a:ext cx="5943600" cy="24688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WAF actif 24h/24 — 0 attaques = système sûr. SIEM logs = preuves infalsifiables pour conformité RGPD Art.5 et Art.32.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MONITORING APPLICATIF — RGPD ·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10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Dashboard RGPD Conformité · Dashboard RBAC &amp; Audit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RGPD — Art. 15 · 17 · 33 · AES-256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669280" cy="329184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CC"/>
                </a:solidFill>
                <a:latin typeface="Calibri"/>
              </a:rPr>
              <a:t>Art. 15 : GET /users/:id/export → DATA_EXPORT loggué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5669280" cy="329184"/>
          </a:xfrm>
          <a:prstGeom prst="rect">
            <a:avLst/>
          </a:prstGeom>
          <a:solidFill>
            <a:srgbClr val="08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CC"/>
                </a:solidFill>
                <a:latin typeface="Calibri"/>
              </a:rPr>
              <a:t>Art. 17 : DELETE /users/:id/data → DATA_ANONYMIZE loggué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67712"/>
            <a:ext cx="5669280" cy="329184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2951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CC"/>
                </a:solidFill>
                <a:latin typeface="Calibri"/>
              </a:rPr>
              <a:t>Chiffrement : AES-256-CBC actif + HTTPS/HSTS max-age=1an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15184"/>
            <a:ext cx="5669280" cy="329184"/>
          </a:xfrm>
          <a:prstGeom prst="rect">
            <a:avLst/>
          </a:prstGeom>
          <a:solidFill>
            <a:srgbClr val="08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6426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CC"/>
                </a:solidFill>
                <a:latin typeface="Calibri"/>
              </a:rPr>
              <a:t>Art. 33 : Procédure notification 72h documentée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62656"/>
            <a:ext cx="5669280" cy="329184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9900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CC"/>
                </a:solidFill>
                <a:latin typeface="Calibri"/>
              </a:rPr>
              <a:t>6 checkmarks verts → conformité complète visible DPO</a:t>
            </a:r>
          </a:p>
        </p:txBody>
      </p:sp>
      <p:pic>
        <p:nvPicPr>
          <p:cNvPr id="19" name="Picture 18" descr="brave_screenshot_localhost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01568"/>
            <a:ext cx="5669280" cy="26060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72200" y="1234440"/>
            <a:ext cx="5715000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252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RBAC — Deny by Default · 9 AuditLogs Immuables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572768"/>
            <a:ext cx="5715000" cy="32918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Deny by default : Firestore Rules + ProtectedRoute /unauthorized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920240"/>
            <a:ext cx="5715000" cy="32918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94767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4 rôles : Admin · Sous-admin · Comptable · Étudiant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267712"/>
            <a:ext cx="5715000" cy="32918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29514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allow update: if false · allow delete: if false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615184"/>
            <a:ext cx="5715000" cy="32918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64261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9 events : AUTH + SESSION + ACCESS + RGPD + WAF_BLOCK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962656"/>
            <a:ext cx="5715000" cy="32918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299008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Conservation 1 an · Horodatage serverTimestamp()</a:t>
            </a:r>
          </a:p>
        </p:txBody>
      </p:sp>
      <p:pic>
        <p:nvPicPr>
          <p:cNvPr id="32" name="Picture 31" descr="SECURITE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01568"/>
            <a:ext cx="5715000" cy="260604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Dashboard RGPD → DPO vérifie conformité sans accès technique. RBAC bloque tout par défaut et surveille les tentatives en temps réel.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PARTIE 3 — WAZUH SIEM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11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Wazuh 4.7.4 — Docker — 4 Commandes · 2 Agents · Coverage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200400" cy="39319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Application Web (React)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234440"/>
            <a:ext cx="5212080" cy="39319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2984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Frontend · auditLogs Firestore · dashboard /monitoring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1848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55064"/>
            <a:ext cx="3200400" cy="39319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71907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API Backend (Node.js)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655064"/>
            <a:ext cx="5212080" cy="39319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71907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WAF · JWT · RBAC · Handler · auditLogger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03911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75688"/>
            <a:ext cx="3200400" cy="3931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13969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Wazuh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075688"/>
            <a:ext cx="5212080" cy="39319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213969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OSSEC · Port 1514 · Chiffrement AES · Push events →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45973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96312"/>
            <a:ext cx="3200400" cy="39319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56032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Wazuh Manager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496312"/>
            <a:ext cx="5212080" cy="39319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256032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Collecte · corrélation · moteur règles · Port 1514/55000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88036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16936"/>
            <a:ext cx="3200400" cy="39319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98094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Wazuh Indexer (OpenSearch)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2916936"/>
            <a:ext cx="5212080" cy="39319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11880" y="29809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Stockage alertes · Port 9200 · Full-text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30098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77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337560"/>
            <a:ext cx="3200400" cy="39319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40156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Wazuh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3337560"/>
            <a:ext cx="5212080" cy="39319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34015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Interface Kibana fork · Port 443 HTTPS TLS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1234440"/>
            <a:ext cx="329184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40" y="12618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Installation — 4 Commandes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15727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FF7F"/>
                </a:solidFill>
                <a:latin typeface="Courier New"/>
              </a:rPr>
              <a:t>git clone -b v4.7.4 github.com/wazuh/wazuh-docker.git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191109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FF7F"/>
                </a:solidFill>
                <a:latin typeface="Courier New"/>
              </a:rPr>
              <a:t>cd wazuh-docker/single-node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22494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FF7F"/>
                </a:solidFill>
                <a:latin typeface="Courier New"/>
              </a:rPr>
              <a:t>docker compose -f generate-indexer-certs.yml run --rm 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5877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FF7F"/>
                </a:solidFill>
                <a:latin typeface="Courier New"/>
              </a:rPr>
              <a:t>docker compose up -d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2926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00"/>
                </a:solidFill>
                <a:latin typeface="Courier New"/>
              </a:rPr>
              <a:t>→ https://localhost : admin / SecretPassword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3840480"/>
            <a:ext cx="329184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06840" y="38862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Agent 001 : frais-gestion-scolaire · Debian 12 · Active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160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Agent 002 : main-machine · macOS 15.7.4 · 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4348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Coverage : 100% — 2 actifs · 0 déconnecté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Wazuh s'installe en 4 commandes Docker. Agent macOS envoie les événements en temps réel. Coverage 100%.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AF68A346-83B2-0863-C765-27F0A24F1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894280"/>
            <a:ext cx="8412480" cy="22017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WAZUH SIEM — SECURITY EVENTS · FIM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12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436 420 Events · Rule 550 Level 7 · FIM SHA-256 · root 89.44%</a:t>
            </a:r>
          </a:p>
        </p:txBody>
      </p:sp>
      <p:pic>
        <p:nvPicPr>
          <p:cNvPr id="7" name="Picture 6" descr="SECURITE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669280" cy="2377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40" y="1234440"/>
            <a:ext cx="5943600" cy="374904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61872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88"/>
                </a:solidFill>
                <a:latin typeface="Calibri"/>
              </a:rPr>
              <a:t>Total Events : 436 420 — journalisation complète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36776"/>
            <a:ext cx="5943600" cy="374904"/>
          </a:xfrm>
          <a:prstGeom prst="rect">
            <a:avLst/>
          </a:prstGeom>
          <a:solidFill>
            <a:srgbClr val="0D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88"/>
                </a:solidFill>
                <a:latin typeface="Calibri"/>
              </a:rPr>
              <a:t>Top Rule : Rule 550 Level 7 — Integrity checksum changed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39112"/>
            <a:ext cx="5943600" cy="374904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066544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88"/>
                </a:solidFill>
                <a:latin typeface="Calibri"/>
              </a:rPr>
              <a:t>MITRE : T1565.001 Stored Data Manipulation (~95%)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41448"/>
            <a:ext cx="5943600" cy="374904"/>
          </a:xfrm>
          <a:prstGeom prst="rect">
            <a:avLst/>
          </a:prstGeom>
          <a:solidFill>
            <a:srgbClr val="0D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88"/>
                </a:solidFill>
                <a:latin typeface="Calibri"/>
              </a:rPr>
              <a:t>Agent : main-machine · macOS 15.7.4 ·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669280" cy="274320"/>
          </a:xfrm>
          <a:prstGeom prst="rect">
            <a:avLst/>
          </a:prstGeom>
          <a:solidFill>
            <a:srgbClr val="0F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7673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FIM — File Integrity Monitoring</a:t>
            </a:r>
          </a:p>
        </p:txBody>
      </p:sp>
      <p:pic>
        <p:nvPicPr>
          <p:cNvPr id="18" name="Picture 17" descr="wazuh_03_f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669280" cy="19202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035040" y="3749039"/>
            <a:ext cx="5943600" cy="374904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776472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Règle : Rule 550 Niveau 7 — Integrity checksum changed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151375"/>
            <a:ext cx="5943600" cy="374904"/>
          </a:xfrm>
          <a:prstGeom prst="rect">
            <a:avLst/>
          </a:prstGeom>
          <a:solidFill>
            <a:srgbClr val="22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4178808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root 89.44% : Modifications binaires système macOS — /var/bin/*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553711"/>
            <a:ext cx="5943600" cy="374904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4581144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Fichiers : /var/bin/afsa · /var/bin/apfs · /private/var/db/locationd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956047"/>
            <a:ext cx="5943600" cy="374904"/>
          </a:xfrm>
          <a:prstGeom prst="rect">
            <a:avLst/>
          </a:prstGeom>
          <a:solidFill>
            <a:srgbClr val="22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4983480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Risque : Rootkit/backdoor si modifications non légitimes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358383"/>
            <a:ext cx="5943600" cy="374904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5385816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Hash SHA-256 en temps réel — équivalent IDS filesystem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FIM détecterait tout rootkit ou backdoor en temps réel. 436 420 events — journalisation complète depuis l'installation.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WAZUH — VULNERABILITY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13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CVE — 17 Vulnérabilités Identifiées — 8 High + 9 Medium — Docker P1</a:t>
            </a:r>
          </a:p>
        </p:txBody>
      </p:sp>
      <p:pic>
        <p:nvPicPr>
          <p:cNvPr id="7" name="Picture 6" descr="wazuh_04_c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59436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0" y="1207008"/>
            <a:ext cx="1078992" cy="2651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207008"/>
            <a:ext cx="1078992" cy="2651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207008"/>
            <a:ext cx="1078992" cy="2651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Sév.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207008"/>
            <a:ext cx="1078992" cy="2651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36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CVSS3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1207008"/>
            <a:ext cx="1078992" cy="2651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3564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72184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CVE-2019-5736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472184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Docker 4.43.2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472184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472184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8.6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0" y="1472184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3564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Container escape → root sur l'hôte via runc. PATCH P1 IMMÉDIAT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CVE-2019-13509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80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Docker 4.43.2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7.5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3564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Information disclosure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002536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CVE-2019-16884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2002536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4380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Docker 4.43.2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002536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4108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2002536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3836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7.5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89920" y="2002536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3564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AppArmor bypass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CVE-2021-21284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4380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Docker 4.43.2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4108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3836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6.8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992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83564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Privilege escalation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532888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4652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CVE-2001-0718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0" y="2532888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4380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Excel 16.107.3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532888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4108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High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2532888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3836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7.5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89920" y="2532888"/>
            <a:ext cx="1078992" cy="246888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3564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Input validation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CVE-2014-4715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8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54380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lz4 1.10.0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4108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Medium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3836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5.0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8992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3564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Heap overflow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572000"/>
            <a:ext cx="11612880" cy="54864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57200" y="45994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ACTION PRIORITAIRE P1 : Mise à jour Docker Engine → docker pull docker:latest  →  élimine 8 CVE High dont CVE-2019-5736 (CVSS3=8.6 container escape)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30368"/>
            <a:ext cx="1600200" cy="640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432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20240" y="5230368"/>
            <a:ext cx="160020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92024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66160" y="5230368"/>
            <a:ext cx="160020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6616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6616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12080" y="5230368"/>
            <a:ext cx="16002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21208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Wazuh Vulnerability Detector compare packages vs NVD NIST automatiquement. CVE-2019-5736 = priorité absolue post-soutenance.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WAZUH — MITRE ATT&amp;CK · POLICY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MITRE ATT&amp;CK — T1565.001 dominant · Rootcheck — 4 Anomalies Détectées</a:t>
            </a:r>
          </a:p>
        </p:txBody>
      </p:sp>
      <p:pic>
        <p:nvPicPr>
          <p:cNvPr id="7" name="Picture 6" descr="wazuh_05_mi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5669280" cy="3108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40" y="1207008"/>
            <a:ext cx="594360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T1565.001 : Stored Data Manipulation — tactic Impact (dominant ~95%)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9344"/>
            <a:ext cx="594360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636776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T1562 : Disable or Modify Tools — tactic Defense Evasion (×6)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594360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039112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Tactics : Impact &gt; Defense Evasion · Classification SOC internationale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14016"/>
            <a:ext cx="594360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441448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Corrélation : PCI DSS 11.5 · RGPD Art.25 · Privacy by Design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34840"/>
            <a:ext cx="5669280" cy="274320"/>
          </a:xfrm>
          <a:prstGeom prst="rect">
            <a:avLst/>
          </a:prstGeom>
          <a:solidFill>
            <a:srgbClr val="3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4531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Rootcheck — Policy Monitoring — Host-based Anomaly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434840"/>
            <a:ext cx="5943600" cy="374904"/>
          </a:xfrm>
          <a:prstGeom prst="rect">
            <a:avLst/>
          </a:prstGeom>
          <a:solidFill>
            <a:srgbClr val="2A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4462272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CC"/>
                </a:solidFill>
                <a:latin typeface="Calibri"/>
              </a:rPr>
              <a:t>Trojaned files : détection de binaires système compromis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837176"/>
            <a:ext cx="5943600" cy="374904"/>
          </a:xfrm>
          <a:prstGeom prst="rect">
            <a:avLst/>
          </a:prstGeom>
          <a:solidFill>
            <a:srgbClr val="1E0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4864608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CC"/>
                </a:solidFill>
                <a:latin typeface="Calibri"/>
              </a:rPr>
              <a:t>Hidden processes : processus 26061 caché — tentative de dissimulation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239512"/>
            <a:ext cx="5943600" cy="374904"/>
          </a:xfrm>
          <a:prstGeom prst="rect">
            <a:avLst/>
          </a:prstGeom>
          <a:solidFill>
            <a:srgbClr val="2A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5266944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CC"/>
                </a:solidFill>
                <a:latin typeface="Calibri"/>
              </a:rPr>
              <a:t>Promiscuity : Interface en3 en mode promiscuous — capture réseau détectée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5641848"/>
            <a:ext cx="5943600" cy="374904"/>
          </a:xfrm>
          <a:prstGeom prst="rect">
            <a:avLst/>
          </a:prstGeom>
          <a:solidFill>
            <a:srgbClr val="1E0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5669280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CC"/>
                </a:solidFill>
                <a:latin typeface="Calibri"/>
              </a:rPr>
              <a:t>Module : Host-based Anomaly Detection · Rootcheck actif · temps réel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MITRE ATT&amp;CK = framework universel SOC. Rootcheck a détecté des anomalies réelles sur l'agent macOS — sniffing réseau possible.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WAZUH SIEM — 5 MODULES ACTIFS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Wazuh — 5 Modules de Sécurité Actifs — CDC §3.3 Couvert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945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527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81912"/>
            <a:ext cx="2194560" cy="2286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AACC"/>
                </a:solidFill>
                <a:latin typeface="Calibri"/>
              </a:rPr>
              <a:t>Journalisation temps réel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0512"/>
            <a:ext cx="2194560" cy="146304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82880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Tableau central : événements classés niveau 3→15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9456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IP source · agent · règle · horodatage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56032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Base de toute la corrélation SIEM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92608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436 420 events journalisés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234440"/>
            <a:ext cx="219456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12527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581912"/>
            <a:ext cx="2194560" cy="2286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600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AACC"/>
                </a:solidFill>
                <a:latin typeface="Calibri"/>
              </a:rPr>
              <a:t>Classification internationale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810512"/>
            <a:ext cx="2194560" cy="146304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33472" y="182880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T1499 Impact ×1594 · T1562 Evasion ×6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219456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Taxonomie universelle SOC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56032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Corrélation automatique techniques attaque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292608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PCI DSS 11.5 · RGPD Art.25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234440"/>
            <a:ext cx="2194560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12527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GDPR 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581912"/>
            <a:ext cx="2194560" cy="2286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1600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AACC"/>
                </a:solidFill>
                <a:latin typeface="Calibri"/>
              </a:rPr>
              <a:t>Conformité Art. 15/17/33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1810512"/>
            <a:ext cx="2194560" cy="109728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19472" y="182880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Art.15 accès · Art.17 effacement · Art.33 violation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19456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Complète nos auditLogs applicatifs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56032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Surveillance conformité infrastructure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234440"/>
            <a:ext cx="219456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0" y="12527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Integrity Monitoring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1581912"/>
            <a:ext cx="2194560" cy="2286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0" y="1600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AACC"/>
                </a:solidFill>
                <a:latin typeface="Calibri"/>
              </a:rPr>
              <a:t>FIM — Hash SHA-256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1810512"/>
            <a:ext cx="2194560" cy="109728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05472" y="182880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2 500+ events · /bin/bash /bin/cp modifiés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219456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Alerte si rootkit ou backdoor détecté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256032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Équivalent IDS filesystem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1234440"/>
            <a:ext cx="219456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0" y="12527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Vulnerabilities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1581912"/>
            <a:ext cx="2194560" cy="2286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18320" y="1600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AACC"/>
                </a:solidFill>
                <a:latin typeface="Calibri"/>
              </a:rPr>
              <a:t>CVE — CVSS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1810512"/>
            <a:ext cx="2194560" cy="1097280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91472" y="182880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17 CVE · 8 High + 9 Medium · Docker dominant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219456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CVE-2019-5736 CVSS3=8.6 → patch P1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2560320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FF"/>
                </a:solidFill>
                <a:latin typeface="Calibri"/>
              </a:rPr>
              <a:t>▸ Scan packages vs NVD NIST automatique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5 modules combinés : détection menaces + conformité RGPD + CVE + FIM + journalisation. Coverage CDC §3.3 complète.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DÉFENSE EN PROFONDEUR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Monitoring à 2 Niveaux — Defense in Depth — CDC §3.3 à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347472"/>
          </a:xfrm>
          <a:prstGeom prst="rect">
            <a:avLst/>
          </a:prstGeom>
          <a:solidFill>
            <a:srgbClr val="0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COUCHE 1 — APPLICATIVE — auditLogs Firestore + /monitoring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30352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55064"/>
            <a:ext cx="5074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99"/>
                </a:solidFill>
                <a:latin typeface="Calibri"/>
              </a:rPr>
              <a:t>✓ WAF — SQLi · XSS · PathTraversal · CmdInj · Agents suspects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8"/>
            <a:ext cx="5303520" cy="374904"/>
          </a:xfrm>
          <a:prstGeom prst="rect">
            <a:avLst/>
          </a:prstGeom>
          <a:solidFill>
            <a:srgbClr val="0D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5074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99"/>
                </a:solidFill>
                <a:latin typeface="Calibri"/>
              </a:rPr>
              <a:t>✓ 9 types audit logs immuables Firestore (append-only)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32304"/>
            <a:ext cx="530352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459736"/>
            <a:ext cx="5074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99"/>
                </a:solidFill>
                <a:latin typeface="Calibri"/>
              </a:rPr>
              <a:t>✓ Score /100 temps réel + 4 alertes automatiques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5303520" cy="374904"/>
          </a:xfrm>
          <a:prstGeom prst="rect">
            <a:avLst/>
          </a:prstGeom>
          <a:solidFill>
            <a:srgbClr val="0D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862072"/>
            <a:ext cx="5074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99"/>
                </a:solidFill>
                <a:latin typeface="Calibri"/>
              </a:rPr>
              <a:t>✓ Scanner DAST 12 tests OWASP — Score 92/100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36976"/>
            <a:ext cx="530352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264408"/>
            <a:ext cx="5074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99"/>
                </a:solidFill>
                <a:latin typeface="Calibri"/>
              </a:rPr>
              <a:t>✓ Dashboard SIEM 3 onglets (admin only · 60s refresh)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39312"/>
            <a:ext cx="5303520" cy="374904"/>
          </a:xfrm>
          <a:prstGeom prst="rect">
            <a:avLst/>
          </a:prstGeom>
          <a:solidFill>
            <a:srgbClr val="0D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666744"/>
            <a:ext cx="5074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DD99"/>
                </a:solidFill>
                <a:latin typeface="Calibri"/>
              </a:rPr>
              <a:t>✓ RGPD Art.15/16/17/33 · AES-256-CBC · HTTPS/HSTS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234440"/>
            <a:ext cx="5394960" cy="347472"/>
          </a:xfrm>
          <a:prstGeom prst="rect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25272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  <a:latin typeface="Calibri"/>
              </a:rPr>
              <a:t>COUCHE 2 — INFRASTRUCTURE — Wazuh SIEM Agent actif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627632"/>
            <a:ext cx="539496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1655064"/>
            <a:ext cx="5166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✓ Agent 001 actif — coverage 100% (Debian 12)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029968"/>
            <a:ext cx="539496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2057400"/>
            <a:ext cx="5166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✓ 213 événements détectés en &lt; 24h sans config extra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432304"/>
            <a:ext cx="539496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2459736"/>
            <a:ext cx="5166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✓ CIS Benchmark Debian 12 — audit 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539496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2862072"/>
            <a:ext cx="5166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✓ Module MITRE ATT&amp;CK — T1499/T1562 classifiés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36976"/>
            <a:ext cx="539496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3264408"/>
            <a:ext cx="5166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✓ Module GDPR — Art.15/17/33 infrastructure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639312"/>
            <a:ext cx="539496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3666744"/>
            <a:ext cx="5166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✓ Vulnerability Detection — 17 CVE/CVSS détectées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11612880" cy="47548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3525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→  CDC §3.3 couvert à 100% : Accès sécurisé (RBAC) · Conformité RGPD · Journalisation des actions · HTTPS · Monitoring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Defense in Depth = 2 couches complémentaires. Applicatif sécurise les accès web. Wazuh surveille l'infrastructure système.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SYNTHÈSE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Synthèse — Couverture CDC §3.3 à 100% — 8/8 Exigences FAITES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2304288" cy="47548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EXIGENCE CDC §3.3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207008"/>
            <a:ext cx="2304288" cy="47548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42616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19472" y="1207008"/>
            <a:ext cx="2304288" cy="47548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IMPLÉMENTATION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42048" y="1207008"/>
            <a:ext cx="2304288" cy="47548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7768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Module Wazuh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64624" y="1207008"/>
            <a:ext cx="2304288" cy="47548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0344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STATUT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82496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Accès sécurisé id/mdp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6896" y="1682496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42616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1·2·3·5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82496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192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JWT HS256 · bcrypt 12r · WAF · rate limit · lockout 5 échecs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2048" y="1682496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Security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4624" y="1682496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0344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HTTPS obligatoire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42616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19472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65192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Firebase HTTPS auto · Helmet HSTS max-age=31536000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42048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64624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10344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33472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RGPD conforme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96896" y="2633472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42616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5·6·8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9472" y="2633472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65192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DATA_EXPORT · DATA_ANONYMIZE · AES-256 · Art.15/16/17/33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42048" y="2633472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87768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Module GDPR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64624" y="2633472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10344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RBAC — Gestion rôles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96896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42616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5·6·8·9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19472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65192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checkRole() Firestore · 4 rôles · Firestore Rules deny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42048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87768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Security Events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64624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10344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584448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0040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Journalisation actions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96896" y="3584448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42616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6·7·8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19472" y="3584448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65192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9 events immuables · SIEM dashboard · serverTimestamp()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42048" y="3584448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87768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213+ events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64624" y="3584448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10344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Détection vulnérabilités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96896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42616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Wazuh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19472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65192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17 CVE identifiées · Plan correctif prioritisé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42048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287768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Vuln Detector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64624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610344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535424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0040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Intégrité fichiers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96896" y="4535424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642616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Wazuh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19472" y="4535424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65192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FIM 2500+ · Rule 550 · Hash SHA-256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42048" y="4535424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87768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Integrity Mon.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64624" y="4535424"/>
            <a:ext cx="2304288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610344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20040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6E"/>
                </a:solidFill>
                <a:latin typeface="Calibri"/>
              </a:rPr>
              <a:t>Détection menaces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96896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642616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Wazuh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19472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65192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MITRE ATT&amp;CK T1499/T1562 · 1600+ alertes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42048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287768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MITRE ATT&amp;CK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564624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610344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Calibri"/>
              </a:rPr>
              <a:t>✓ FAIT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5230368"/>
            <a:ext cx="11612880" cy="43891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57200" y="5257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CDC §3.3 couvert à 100% : chaque exigence a une implémentation technique vérifiable et démontrable en live devant le jury.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8 exigences, 8 implémentées, toutes vérifiables. Wazuh assure les 3 dernières exigences infrastructure.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BILAN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Bilan Global — Points Forts Réalisés &amp; Perspectives Post-Soutenance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320040"/>
          </a:xfrm>
          <a:prstGeom prst="rect">
            <a:avLst/>
          </a:prstGeom>
          <a:solidFill>
            <a:srgbClr val="0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✅  Points Forts Réalisés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548640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WAF maison — 5 types OWASP bloqués (waf.js)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02536"/>
            <a:ext cx="5486400" cy="374904"/>
          </a:xfrm>
          <a:prstGeom prst="rect">
            <a:avLst/>
          </a:prstGeom>
          <a:solidFill>
            <a:srgbClr val="0D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029968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9 audit logs immuables Firestore (append-only)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04872"/>
            <a:ext cx="548640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432304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Dashboard SIEM /monitoring — Score /100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07208"/>
            <a:ext cx="5486400" cy="374904"/>
          </a:xfrm>
          <a:prstGeom prst="rect">
            <a:avLst/>
          </a:prstGeom>
          <a:solidFill>
            <a:srgbClr val="0D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834640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Scanner DAST 12 tests OWASP automatisés (92/100)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9544"/>
            <a:ext cx="548640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236976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Wazuh SIEM — 213 événements &lt; 24h détectés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5486400" cy="374904"/>
          </a:xfrm>
          <a:prstGeom prst="rect">
            <a:avLst/>
          </a:prstGeom>
          <a:solidFill>
            <a:srgbClr val="0D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63931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Agent Wazuh actif — coverage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14216"/>
            <a:ext cx="5486400" cy="374904"/>
          </a:xfrm>
          <a:prstGeom prst="rect">
            <a:avLst/>
          </a:prstGeom>
          <a:solidFill>
            <a:srgbClr val="0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041648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  <a:latin typeface="Calibri"/>
              </a:rPr>
              <a:t>✓ CDC §3.3 couvert à 100% — toutes exigences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5943600" cy="320040"/>
          </a:xfrm>
          <a:prstGeom prst="rect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12527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→  Perspectives Post-Soutenance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600200"/>
            <a:ext cx="594360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1627632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Déploiement Azure Container Apps (nginx SPA)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002536"/>
            <a:ext cx="594360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2029968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Alertes email/SMS automatiques (Twilio / SendGrid)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404872"/>
            <a:ext cx="594360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2432304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Intégration CI/CD pipeline sécurité (GitHub Actions)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807208"/>
            <a:ext cx="594360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2834640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Wazuh agent sur serveur production (hors Docker)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209544"/>
            <a:ext cx="594360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3236976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Rotation automatique clés JWT (Redis blacklist)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611880"/>
            <a:ext cx="5943600" cy="374904"/>
          </a:xfrm>
          <a:prstGeom prst="rect">
            <a:avLst/>
          </a:prstGeom>
          <a:solidFill>
            <a:srgbClr val="1A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3639312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Dashboard Grafana (métriques Firebase + Wazuh)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014216"/>
            <a:ext cx="5943600" cy="374904"/>
          </a:xfrm>
          <a:prstGeom prst="rect">
            <a:avLst/>
          </a:prstGeom>
          <a:solidFill>
            <a:srgbClr val="15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4041648"/>
            <a:ext cx="5669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FF"/>
                </a:solidFill>
                <a:latin typeface="Calibri"/>
              </a:rPr>
              <a:t>→ Pentest professionnel post-déploiement (OWASP ZAP)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Maîtrise complète de la sécurité applicative + infrastructure. Prochaines étapes pour augmenter la maturité du système.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RÉCAPITULATIF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Chiffres Clés à Retenir — KPI Complets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51760" cy="7772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436 420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Security Events Wazuh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51760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100/100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Score Dashboard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5176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92/100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Score DAST (12 tests)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280160"/>
            <a:ext cx="2651760" cy="7772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 CVE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8 High + 9 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2651760" cy="7772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Exigences CDC §3.3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194560"/>
            <a:ext cx="2651760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Types AuditLogs immuables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194560"/>
            <a:ext cx="2651760" cy="77724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Catégories OWASP vérifiées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194560"/>
            <a:ext cx="2651760" cy="777240"/>
          </a:xfrm>
          <a:prstGeom prst="rect">
            <a:avLst/>
          </a:prstGeom>
          <a:solidFill>
            <a:srgbClr val="0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Articles RGPD couverts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08960"/>
            <a:ext cx="2651760" cy="77724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Rôles RBAC — moindre privilège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108960"/>
            <a:ext cx="2651760" cy="7772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bcrypt rounds — anti-brute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108960"/>
            <a:ext cx="2651760" cy="7772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AES-256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Chiffrement données sensibles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3108960"/>
            <a:ext cx="265176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Agents Wazuh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CCFF"/>
                </a:solidFill>
                <a:latin typeface="Calibri"/>
              </a:rPr>
              <a:t>💬 CVE-2019-5736 CVSS3=8.6 · T1565.001 Stored Data Manipulation ~95% · Rule 550 Level 7 FIM dominant · Defense in Depth 2 couches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PFE CYBERSÉCURITÉ / CYBERDÉFENSE — YNOV Campus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BB"/>
                </a:solidFill>
                <a:latin typeface="Calibri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CCFF"/>
                </a:solidFill>
                <a:latin typeface="Calibri"/>
              </a:rPr>
              <a:t>Questions &amp; Démonstration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035808"/>
            <a:ext cx="9418320" cy="365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69848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DFF"/>
                </a:solidFill>
                <a:latin typeface="Calibri"/>
              </a:rPr>
              <a:t>"Le monitoring couvre intégralement le CDC §3.3 sur deux niveaux :
monitoring applicatif (WAF · 9 audit logs Firestore · dashboard SIEM /monitoring · DAST 12 tests)
et monitoring infrastructure Wazuh (213 événements · MITRE ATT&amp;CK · GDPR · CIS Benchmark).
Ensemble, ils assurent une défense en profondeur conforme RGPD."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343400"/>
            <a:ext cx="9418320" cy="36576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Amine BAHOU  /  Anass Akker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PFE Bachelor Cybersécurité / Cyberdéfense — YNOV Campus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OWASP Top 10  ·  RGPD UE 2016/679  ·  CDC §3.3 100%  ·  Wazuh 4.7.4  ·  JWT HS256  ·  AES-256-CBC  ·  Defense in Depth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QUESTIONS JURY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Questions</a:t>
            </a:r>
            <a:r>
              <a:rPr lang="fr-FR" sz="20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12 Blocs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Thématiques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— 40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64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8000" y="91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BLOC 1 — WAF &amp; Sécurité Applicative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1512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00" y="1566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BLOC 2 — Authentification &amp; JWT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2160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00" y="2214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BLOC 3 — Chiffrement AES-256-CBC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2808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00" y="2862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BLOC 4 — Audit Logs &amp; Traçabilité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3456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00" y="351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BLOC 5 — RBAC &amp; Contrôle d'Accès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4104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00" y="415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BLOC 6 — Wazuh SIEM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864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8000" y="91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BLOC 7 — Conformité RGPD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0" y="1512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8000" y="1566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BLOC 8 — Architecture &amp; Defense in Depth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2160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8000" y="2214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BLOC 9 — Tests &amp;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2808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28000" y="2862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BLOC 10 — Incidents &amp; Réponse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3456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28000" y="351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BLOC 11 — Monitoring &amp; Performances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0" y="4104000"/>
            <a:ext cx="5580000" cy="540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28000" y="415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BLOC 12 — Questions Pièges / Approfondissement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Format : 3 points par réponse · Mémorisable en ~30s · Toutes réponses vérifiables en live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E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WAF &amp; Sécurité Applicative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Q1 : C'est quoi ton WAF et comment il fonctionne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waf.js = middleware Express appliqué AVANT l'authentification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Détecte SQLi / XSS / Path Traversal / CMD Injection / Scanners via 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- Si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attaque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→ HTTP 40</a:t>
            </a:r>
            <a:r>
              <a:rPr lang="fr-FR" sz="1100" b="0" i="0" dirty="0">
                <a:solidFill>
                  <a:srgbClr val="FFFFFF"/>
                </a:solidFill>
                <a:latin typeface="Calibri"/>
              </a:rPr>
              <a:t>4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+ WAF_BLOCK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enregistré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dans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Firestore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auditLogs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Q2 : Pourquoi un WAF applicatif et pas un WAF réseau (nginx, Cloudflare)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Coût zéro, déployé directement dans le code Node.js/Express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Adapté au contexte Firebase Functions (pas d'infra réseau contrôlable)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Logging métier précis : on sait qui a attaqué, quand, quelle route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Q3 : Comment tu valides que ton WAF bloque vraiment les attaques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security_scan.js = scanner DAST maison, 12 tests automatisés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Score obtenu : 92/100 sur toutes les catégories (SQLi, XSS, Headers...)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Résultats reproductibles : node security_scan.js depuis le terminal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Authentification &amp; JWT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Q4 : Comment fonctionne l'authentification dans ton application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Firebase Auth génère un idToken JWT signé côté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Backend vérifie le token avec admin.auth().verifyIdToken() à chaque requête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Si invalide ou expiré → HTTP 401, aucune donnée exposée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Q5 : Quelle est la durée de vie des tokens JWT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Access token : 24 heures (usage quotidien normal)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Refresh token : 7 jours (renouvellement silencieux)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Secret stocké dans .env, jamais dans le code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Q6 : Comment tu protèges contre le brute-force sur le login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Rate limiter : 10 requêtes / 15 min par IP sur 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Après 5 échecs → AUTH_LOCKOUT loggué + HTTP 429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bcrypt 12 rounds : hash volontairement lent pour ralentir les attaques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3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Chiffrement AES-256-CBC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Q7 : Pourquoi chiffrer les données personnelles dans Firestore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Conformité RGPD : téléphone et adresse = données sensibles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Protection defense in depth : si Firestore compromis, données illisibles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AES-256-CBC = standard industriel approuvé NIST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Q8 : Comment fonctionne concrètement ton chiffrement AES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IV aléatoire 128 bits généré à chaque chiffrement avec crypto.randomBytes(16)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Format stocké : iv_hex:ciphertext_hex dans le champ Firestore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Déchiffrement : on extrait l'IV du préfixe, puis createDecipheriv()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Q9 : Où est stockée la clé de chiffrement ENCRYPTION_KEY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Variable d'environnement obligatoire — jamais dans le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Sur Firebase : firebase functions:secrets:set ENCRYPTION_KEY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En local : fichier .env exclu par .gitignore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4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Audit Logs &amp; Traçabilité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Q10 : Comment garantis-tu l'intégrité des logs d'audit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Règle Firestore : allow update, delete: if false → logs immuables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- 9 types d'événements : LOGIN, LOGOUT, CREATE, UPDATE, DELETE...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Chaque log contient : userId, action, timestamp, IP, userAgent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Q11 : À quoi servent tes audit logs en pratique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Forensique : reconstruire la chronologie d'un 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Conformité : preuve d'accès et modifications pour audit RGPD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Monitoring : détecter comportements anormaux (ex. 50 DELETE en 1 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Q12 : Qui peut lire les audit logs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Admin uniquement via interface dédiée — règles Firestore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Wazuh les ingère aussi pour corrélation SIEM côté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Export possible en CSV/Excel pour rapports de conformité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5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RBAC &amp; Contrôle d'Accès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Q13 : Combien de rôles dans ton RBAC et qui fait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admin : accès total, gestion utilisateurs, backup,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sous-admin / comptable : gestion frais, paiements, étudiants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étudiant / parent : lecture seule de leur propre dossier uniquement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Q14 : Comment le RBAC est-il appliqué techniquement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Middleware verifyRole() sur chaque route Express sensible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Double vérification : Firebase Auth (token) + Firestore (rôle utilisateur)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Firestore Rules comme dernier rempart si le backend est contourné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Q15 : Que se passe-t-il si quelqu'un essaie d'accéder hors de son rôle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HTTP 403 retourné immédiatement par le middleware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Tentative loggée dans auditLogs avec type UNAUTHORIZED_ACCESS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Wazuh reçoit l'alerte et peut déclencher une règle de blocage 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6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Wazuh SIEM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Q16 : Pourquoi avoir intégré Wazuh dans ton projet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Surveillance infrastructure en temps réel : logs + FIM + CVE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- 436 420 événements analysés, alertes automatiques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Réponse active possible : blocage IP, isolation hôte compromis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Q17 : Qu'est-ce que le FIM (File Integrity Monitoring) dans Wazuh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Surveille les modifications de fichiers critiques (hash MD5/SHA256)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Si un fichier système change → alerte immédiate niveau 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MITRE T1565.001 : Stored Data Manipulation — représente ~95% des alertes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Q18 : Comment Wazuh détecte les vulnérabilités CVE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Agent Wazuh scanne les packages installés et compare avec NVD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CVE-2019-5736 détecté : CVSS3=8.6, Docker container escape, priorité 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Rapport généré avec recommandations de remediation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7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Conformité RGPD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Q19 : Quelles mesures RGPD as-tu implémentées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Chiffrement AES-256 des données sensibles (téléphone, adresse)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Droit à l'effacement : endpoint /api/users/rgpd/delete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Audit logs pour traçabilité des accès aux données personnelles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Q20 : Comment tu gères le consentement et les droits des utilisateurs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Portail étudiant/parent : accès lecture seule à son propre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Suppression compte : rgpd.js anonymise ou supprime les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Export données : format JSON/CSV disponible sur demande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Q21 : Est-ce que ton application couvre le cahier des charges sécurité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CDC §3.3 : 100% couvert, 8 exigences validées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Chaque exigence tracée vers une implémentation technique concrète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Validé par le scanner DAST (score 92/100) et les tests unitaires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8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Architecture &amp; Defense in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Q22 : C'est quoi ta stratégie de défense en profondeur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Couche 1 applicative : WAF + JWT + RBAC + Rate Limiter + AES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Couche 2 infrastructure : Wazuh SIEM + FIM + CVE + Rootcheck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Si couche 1 compromise → couche 2 détecte et alerte en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Q23 : Quelle est l'architecture globale de l'application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Frontend React/TypeScript → Firebase Hosting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Backend Node.js/Express → Firebase Functions (serverless)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Base de données Firestore + Storage Firebase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Q24 : Pourquoi Firebase Functions pour le backend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Scalabilité automatique, pas de serveur à gérer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Isolation par fonction : surface d'attaque réduite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Intégration native Firebase Auth + Firestore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9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Tests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Q25 : Comment tu as testé la sécurité de ton application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Scanner DAST maison security_scan.js : 12 tests, score 92/100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Tests unitaires encryption : encryption.test.js (Jest)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Tests manuels : injection SQL, XSS, path traversal sur toutes les routes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Q26 : Qu'est-ce que ton scanner DAST teste exactement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Injections : SQLi, XSS, Path Traversal, Command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Headers de sécurité : HSTS, X-Frame-Options, CSP, X-Content-Type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Authentification : tokens expirés, rôles croisés, endpoints sans 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Q27 : Quel est le score 92/100 — qu'est-ce qui manque pour 100%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- 8 points manquants : CSP strict non encore activé en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Amélioration prévue : nonce-based CSP pour les scripts inline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L'application reste à un niveau de sécurité élevé selon OWASP Top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E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Incidents &amp; Réponse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Q28 : Que se passe-t-il si une intrusion est détectée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Wazuh génère une alerte avec niveau de sévérité (1-15)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Réponse active possible : script de blocage IP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Audit log enregistre l'événement pour forensique post-incident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Q29 : As-tu simulé des attaques sur ton application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Oui : tests SQLi et XSS bloqués par WAF → HTTP 403 confirmé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CVE simulée sur Docker : détectée par Wazuh en &lt; 30 secondes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FIM testé : modification de fichier critique → alerte niveau 7 générée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Q30 : Comment tu procèdes pour un rollback en cas d'incident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Backup automatique Firestore avant chaque déploiement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ROLLBACK.md documente la procédure étape par étape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Firebase Hosting : rollback en 1 commande firebase hosting:clone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Monitoring &amp; Performances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Q31 : Comment tu surveilles les performances de l'application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Middleware performance.js : mesure le temps de réponse de chaque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Seuil d'alerte : &gt; 2000ms → log SLOW_REQUEST dans auditLogs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Dashboard Wazuh : métriques système CPU/RAM en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Q32 : Combien d'événements Wazuh as-tu analysés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- 436 420 événements collectés sur la période de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~95% = T1565.001 (Stored Data Manipulation) — FIM très actif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Rootcheck (Policy Monitoring) : vérification des bonnes pratiques système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Q33 : Ton application est-elle prête pour la production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Frontend déployable sur Firebase Hosting (Dockerfile + nginx.conf prêts)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Backend Functions déjà configuré pour prod (.env + secrets Firebase)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Pipeline CI/CD GitLab (.gitlab-ci.yml) avec tests automatiques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12A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Questions Pièges — Approfondissement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Q34 : Quelle différence entre authentification et autorisation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Authentification : 'qui es-tu ?' → Firebase Auth vérifie le token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Autorisation : 'que peux-tu faire ?' → RBAC vérifie le rôle Firestore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Les deux sont indépendants : un token valide ≠ accès autorisé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Q35 : Pourquoi bcrypt et pas argon2 pour les mots de passe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Firebase Auth gère le hashing côté serveur (bcrypt par défaut)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Le choix n'est pas le nôtre : Firebase impose son implémentation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bcrypt 12 rounds reste sécurisé : ~250ms par hash, anti-brute force efficace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Q36 : Si ENCRYPTION_KEY est dans .env, comment tu la protèges en prod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Firebase Secrets Manager : firebase functions:secrets:set ENCRYPTION_KEY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Jamais dans le code source, jamais dans git (.gitignore inclut .env)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Rotation possible : nouvelle clé → re-chiffrement des données au déploiement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B4D8"/>
                </a:solidFill>
                <a:latin typeface="Calibri"/>
              </a:rPr>
              <a:t>Q&amp;A — BLOC 12B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44000"/>
            <a:ext cx="11520000" cy="612000"/>
          </a:xfrm>
          <a:prstGeom prst="rect">
            <a:avLst/>
          </a:prstGeom>
          <a:solidFill>
            <a:srgbClr val="D62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Questions Pièges — Approfondissement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827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999" y="845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Q37 : Peux-tu déchiffrer les données si tu perds la clé AES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3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Non — aucune récupération possible sans la clé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0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C'est une feature, pas un bug : garantit la confidentialité absolue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7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Backup sécurisé de la clé requis (coffre-fort, HSM en entreprise)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31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999" y="224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Q38 : Quelle est la différence entre Wazuh et un simple pare-feu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Pare-feu : filtre réseau statique (ports/IP) — couche 3/4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0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Wazuh : analyse comportementale dynamique — couche 7 +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7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Wazuh corrèle les événements dans le temps → détecte les APT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635999"/>
            <a:ext cx="11700000" cy="28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999" y="365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alibri"/>
              </a:rPr>
              <a:t>Q39-40 : Conformité ISO 27001 + Prochain axe d'amélioration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94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ISO 27001 partielle : A.9 accès, A.10 crypto, A.12 ops — manque SMSI formel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21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Court terme : CSP strict nonce-based → score 100/100 DAST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481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- Long terme : MFA admin + pentest pro + certification ISO 27001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76000"/>
            <a:ext cx="12240000" cy="360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000" y="5094000"/>
            <a:ext cx="11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  <a:latin typeface="Calibri"/>
              </a:rPr>
              <a:t>Score DAST 92/100 · CDC §3.3 100% · Wazuh 436 420 events · AES-256-CBC · JWT HS256 · bcrypt 12r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0" y="52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5658</Words>
  <Application>Microsoft Macintosh PowerPoint</Application>
  <PresentationFormat>Personnalisé</PresentationFormat>
  <Paragraphs>717</Paragraphs>
  <Slides>34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AKKER Anass</cp:lastModifiedBy>
  <cp:revision>4</cp:revision>
  <dcterms:created xsi:type="dcterms:W3CDTF">2013-01-27T09:14:16Z</dcterms:created>
  <dcterms:modified xsi:type="dcterms:W3CDTF">2026-04-21T15:31:01Z</dcterms:modified>
  <cp:category/>
</cp:coreProperties>
</file>